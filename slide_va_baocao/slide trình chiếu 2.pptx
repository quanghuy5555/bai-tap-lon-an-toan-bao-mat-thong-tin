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image" Target="../media/image-18-9.png"/><Relationship Id="rId10" Type="http://schemas.openxmlformats.org/officeDocument/2006/relationships/image" Target="../media/image-18-10.pn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png"/><Relationship Id="rId13" Type="http://schemas.openxmlformats.org/officeDocument/2006/relationships/image" Target="../media/image-18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5503" y="1744717"/>
            <a:ext cx="6732994" cy="65888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b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3024" spc="72" kern="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DoS DDoS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2237727" y="2946278"/>
            <a:ext cx="4668546" cy="42062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spc="72" kern="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Phòng ngừa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467118" y="3435723"/>
            <a:ext cx="6209763" cy="14173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Nhóm 7: Gồm những thành viên </a:t>
            </a:r>
            <a:endParaRPr lang="en-US" sz="1440" dirty="0"/>
          </a:p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Phạm Quang Huy </a:t>
            </a:r>
            <a:endParaRPr lang="en-US" sz="1440" dirty="0"/>
          </a:p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Nguyễn Quang Trung</a:t>
            </a:r>
            <a:endParaRPr lang="en-US" sz="1440" dirty="0"/>
          </a:p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Lê Ngọc Thái</a:t>
            </a:r>
            <a:endParaRPr lang="en-US" sz="1440" dirty="0"/>
          </a:p>
        </p:txBody>
      </p:sp>
      <p:sp>
        <p:nvSpPr>
          <p:cNvPr id="5" name="Shape 3"/>
          <p:cNvSpPr/>
          <p:nvPr/>
        </p:nvSpPr>
        <p:spPr>
          <a:xfrm>
            <a:off x="4137496" y="4171745"/>
            <a:ext cx="848560" cy="0"/>
          </a:xfrm>
          <a:custGeom>
            <a:avLst/>
            <a:gdLst/>
            <a:ahLst/>
            <a:cxnLst/>
            <a:rect l="l" t="t" r="r" b="b"/>
            <a:pathLst>
              <a:path w="848560" h="0">
                <a:moveTo>
                  <a:pt x="0" y="0"/>
                </a:moveTo>
                <a:moveTo>
                  <a:pt x="0" y="0"/>
                </a:moveTo>
                <a:lnTo>
                  <a:pt x="848560" y="0"/>
                </a:lnTo>
              </a:path>
            </a:pathLst>
          </a:custGeom>
          <a:noFill/>
          <a:ln w="9525">
            <a:solidFill>
              <a:srgbClr val="00070F">
                <a:alpha val="20000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84832" y="515324"/>
            <a:ext cx="3912501" cy="7863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3168" b="1" spc="144" kern="0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CONTENT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1747272" y="1529612"/>
            <a:ext cx="2886111" cy="42976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Khái niệm</a:t>
            </a:r>
            <a:endParaRPr lang="en-US" sz="1440" dirty="0"/>
          </a:p>
        </p:txBody>
      </p:sp>
      <p:sp>
        <p:nvSpPr>
          <p:cNvPr id="4" name="Text 2"/>
          <p:cNvSpPr/>
          <p:nvPr/>
        </p:nvSpPr>
        <p:spPr>
          <a:xfrm>
            <a:off x="1188531" y="143360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5" name="Text 3"/>
          <p:cNvSpPr/>
          <p:nvPr/>
        </p:nvSpPr>
        <p:spPr>
          <a:xfrm>
            <a:off x="5150233" y="1543328"/>
            <a:ext cx="2804467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thuật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4592013" y="1433600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7" name="Text 5"/>
          <p:cNvSpPr/>
          <p:nvPr/>
        </p:nvSpPr>
        <p:spPr>
          <a:xfrm>
            <a:off x="1747686" y="2323007"/>
            <a:ext cx="2885697" cy="40233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584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Phòng thủ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1188616" y="2213279"/>
            <a:ext cx="71323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5323" y="2501765"/>
            <a:ext cx="3813354" cy="5029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Khái niệm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868512" y="1395341"/>
            <a:ext cx="1406976" cy="12527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61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01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423758" y="3325333"/>
            <a:ext cx="296485" cy="0"/>
          </a:xfrm>
          <a:custGeom>
            <a:avLst/>
            <a:gdLst/>
            <a:ahLst/>
            <a:cxnLst/>
            <a:rect l="l" t="t" r="r" b="b"/>
            <a:pathLst>
              <a:path w="296485" h="0">
                <a:moveTo>
                  <a:pt x="0" y="0"/>
                </a:moveTo>
                <a:moveTo>
                  <a:pt x="0" y="0"/>
                </a:moveTo>
                <a:lnTo>
                  <a:pt x="296485" y="0"/>
                </a:lnTo>
              </a:path>
            </a:pathLst>
          </a:custGeom>
          <a:noFill/>
          <a:ln w="19050">
            <a:solidFill>
              <a:srgbClr val="69862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DoS/DDoS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196996" y="977980"/>
            <a:ext cx="8709281" cy="3832087"/>
          </a:xfrm>
          <a:custGeom>
            <a:avLst/>
            <a:gdLst/>
            <a:ahLst/>
            <a:cxnLst/>
            <a:rect l="l" t="t" r="r" b="b"/>
            <a:pathLst>
              <a:path w="8709281" h="3832087">
                <a:moveTo>
                  <a:pt x="274199" y="0"/>
                </a:moveTo>
                <a:moveTo>
                  <a:pt x="274199" y="0"/>
                </a:moveTo>
                <a:lnTo>
                  <a:pt x="8435082" y="0"/>
                </a:lnTo>
                <a:quadBezTo>
                  <a:pt x="8709281" y="0"/>
                  <a:pt x="8709281" y="274199"/>
                </a:quadBezTo>
                <a:lnTo>
                  <a:pt x="8709281" y="3557888"/>
                </a:lnTo>
                <a:quadBezTo>
                  <a:pt x="8709281" y="3832087"/>
                  <a:pt x="8435082" y="3832087"/>
                </a:quadBezTo>
                <a:lnTo>
                  <a:pt x="274199" y="3832087"/>
                </a:lnTo>
                <a:quadBezTo>
                  <a:pt x="0" y="3832087"/>
                  <a:pt x="0" y="3557888"/>
                </a:quadBezTo>
                <a:lnTo>
                  <a:pt x="0" y="274199"/>
                </a:lnTo>
                <a:quadBezTo>
                  <a:pt x="0" y="0"/>
                  <a:pt x="274199" y="0"/>
                </a:quadBezTo>
                <a:close/>
              </a:path>
            </a:pathLst>
          </a:custGeom>
          <a:solidFill>
            <a:srgbClr val="FFFFFF"/>
          </a:solidFill>
          <a:ln/>
          <a:effectLst>
            <a:outerShdw sx="100000" sy="100000" kx="0" ky="0" algn="bl" rotWithShape="0" blurRad="19050" dist="38100" dir="2700000">
              <a:srgbClr val="808080">
                <a:alpha val="14902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00916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5" name="Shape 3"/>
          <p:cNvSpPr/>
          <p:nvPr/>
        </p:nvSpPr>
        <p:spPr>
          <a:xfrm>
            <a:off x="793720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 h="0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819063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794786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2696868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759063"/>
          </a:solidFill>
          <a:ln/>
        </p:spPr>
      </p:sp>
      <p:sp>
        <p:nvSpPr>
          <p:cNvPr id="8" name="Shape 6"/>
          <p:cNvSpPr/>
          <p:nvPr/>
        </p:nvSpPr>
        <p:spPr>
          <a:xfrm>
            <a:off x="2789672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 h="0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819063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2790738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Shape 8"/>
          <p:cNvSpPr/>
          <p:nvPr/>
        </p:nvSpPr>
        <p:spPr>
          <a:xfrm>
            <a:off x="4692821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1" name="Shape 9"/>
          <p:cNvSpPr/>
          <p:nvPr/>
        </p:nvSpPr>
        <p:spPr>
          <a:xfrm>
            <a:off x="4785624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 h="0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819063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2" name="Text 10"/>
          <p:cNvSpPr/>
          <p:nvPr/>
        </p:nvSpPr>
        <p:spPr>
          <a:xfrm>
            <a:off x="4786690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3" name="Shape 11"/>
          <p:cNvSpPr/>
          <p:nvPr/>
        </p:nvSpPr>
        <p:spPr>
          <a:xfrm>
            <a:off x="6688773" y="1903574"/>
            <a:ext cx="1886833" cy="534020"/>
          </a:xfrm>
          <a:custGeom>
            <a:avLst/>
            <a:gdLst/>
            <a:ahLst/>
            <a:cxnLst/>
            <a:rect l="l" t="t" r="r" b="b"/>
            <a:pathLst>
              <a:path w="1886833" h="534020">
                <a:moveTo>
                  <a:pt x="222836" y="0"/>
                </a:moveTo>
                <a:moveTo>
                  <a:pt x="222836" y="0"/>
                </a:moveTo>
                <a:lnTo>
                  <a:pt x="1663997" y="0"/>
                </a:lnTo>
                <a:quadBezTo>
                  <a:pt x="1886833" y="0"/>
                  <a:pt x="1886833" y="222836"/>
                </a:quadBezTo>
                <a:lnTo>
                  <a:pt x="1886833" y="311184"/>
                </a:lnTo>
                <a:quadBezTo>
                  <a:pt x="1886833" y="534020"/>
                  <a:pt x="1663997" y="534020"/>
                </a:quadBezTo>
                <a:lnTo>
                  <a:pt x="222836" y="534020"/>
                </a:lnTo>
                <a:quadBezTo>
                  <a:pt x="0" y="534020"/>
                  <a:pt x="0" y="311184"/>
                </a:quadBezTo>
                <a:lnTo>
                  <a:pt x="0" y="222836"/>
                </a:lnTo>
                <a:quadBezTo>
                  <a:pt x="0" y="0"/>
                  <a:pt x="222836" y="0"/>
                </a:quadBezTo>
                <a:close/>
              </a:path>
            </a:pathLst>
          </a:custGeom>
          <a:solidFill>
            <a:srgbClr val="759063"/>
          </a:solidFill>
          <a:ln/>
        </p:spPr>
      </p:sp>
      <p:sp>
        <p:nvSpPr>
          <p:cNvPr id="14" name="Shape 12"/>
          <p:cNvSpPr/>
          <p:nvPr/>
        </p:nvSpPr>
        <p:spPr>
          <a:xfrm>
            <a:off x="6781577" y="2601915"/>
            <a:ext cx="1701225" cy="0"/>
          </a:xfrm>
          <a:custGeom>
            <a:avLst/>
            <a:gdLst/>
            <a:ahLst/>
            <a:cxnLst/>
            <a:rect l="l" t="t" r="r" b="b"/>
            <a:pathLst>
              <a:path w="1701225" h="0">
                <a:moveTo>
                  <a:pt x="0" y="0"/>
                </a:moveTo>
                <a:moveTo>
                  <a:pt x="0" y="0"/>
                </a:moveTo>
                <a:lnTo>
                  <a:pt x="1701225" y="0"/>
                </a:lnTo>
              </a:path>
            </a:pathLst>
          </a:custGeom>
          <a:noFill/>
          <a:ln w="9525">
            <a:solidFill>
              <a:srgbClr val="819063">
                <a:alpha val="21961"/>
              </a:srgbClr>
            </a:solidFill>
            <a:prstDash val="solid"/>
            <a:headEnd type="none"/>
            <a:tailEnd type="none"/>
          </a:ln>
        </p:spPr>
      </p:sp>
      <p:sp>
        <p:nvSpPr>
          <p:cNvPr id="15" name="Text 13"/>
          <p:cNvSpPr/>
          <p:nvPr/>
        </p:nvSpPr>
        <p:spPr>
          <a:xfrm>
            <a:off x="6782642" y="1048744"/>
            <a:ext cx="1699094" cy="91440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5760" b="1" i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700916" y="1903574"/>
            <a:ext cx="1886833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Khái niệm DoS/DDoS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88807" y="2627039"/>
            <a:ext cx="191105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Tấn công ngăn truy cập bằng tràn lưu lượng hoặc khai thác lỗ hổng.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2696868" y="1903574"/>
            <a:ext cx="18757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Tác động DoS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2684759" y="2627039"/>
            <a:ext cx="191105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Ngưng hoạt động mạng, mất doanh thu và tổn hại uy tín lâu dài.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4692821" y="1903574"/>
            <a:ext cx="1875789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Các kỹ thuật tấn công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4680711" y="2627039"/>
            <a:ext cx="1911051" cy="12435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Volumetric, SYN Flood, Fragmentation, TCP state exhaustion và tấn công tầng ứng dụng.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6683251" y="1903574"/>
            <a:ext cx="1881311" cy="5486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Botnet và C&amp;C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6676663" y="2627039"/>
            <a:ext cx="1911051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Mạng máy bị nhiễm điều khiển từ xa qua C&amp;C để thực hiện DDoS.</a:t>
            </a:r>
            <a:endParaRPr lang="en-US" sz="144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609" y="1483922"/>
            <a:ext cx="7431305" cy="4196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5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Tác động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/a:blip>  <a:stretch><a:fillRect/></a:stretch></p:blipFill><p:spPr> <a:xfrm>  <a:off x="3235339" y="1515097"/>  <a:ext cx="1309229" cy="1243767"/> </a:xfrm> <a:prstGeom prst="rect"><a:avLst/></a:prstGeom></p:spPr></p:pic><p:pic>  <p:nvPicPr><p:cNvPr id="4" name="Image 1" descr="preencoded.png">    </p:cNvPr>    <p:cNvPicPr><a:picLocks noChangeAspect="1"/></p:cNvPicPr>    <p:nvPr></p:nvPr>  </p:nvPicPr><p:blipFill><a:blip r:embed="rId3"></a:blip>  <a:stretch><a:fillRect/></a:stretch></p:blipFill><p:spPr> <a:xfrm>  <a:off x="4599432" y="2814404"/>  <a:ext cx="1309229" cy="1243767"/> </a:xfrm> <a:prstGeom prst="rect"><a:avLst/></a:prstGeom></p:spPr></p:pic><p:pic>  <p:nvPicPr><p:cNvPr id="5" name="Image 2" descr="preencoded.png">    </p:cNvPr>    <p:cNvPicPr><a:picLocks noChangeAspect="1"/></p:cNvPicPr>    <p:nvPr></p:nvPr>  </p:nvPicPr><p:blipFill><a:blip r:embed="rId4"></a:blip>  <a:stretch><a:fillRect/></a:stretch></p:blipFill><p:spPr> <a:xfrm flipH="1">  <a:off x="4599432" y="1515097"/>  <a:ext cx="1309229" cy="1243767"/> </a:xfrm> <a:prstGeom prst="rect"><a:avLst/></a:prstGeom></p:spPr></p:pic><p:pic>  <p:nvPicPr><p:cNvPr id="6" name="Image 3" descr="preencoded.png">    </p:cNvPr>    <p:cNvPicPr><a:picLocks noChangeAspect="1"/></p:cNvPicPr>    <p:nvPr></p:nvPr>  </p:nvPicPr><p:blipFill><a:blip r:embed="rId5"></a:blip>  <a:stretch><a:fillRect/></a:stretch></p:blipFill><p:spPr> <a:xfrm flipH="1">  <a:off x="3235339" y="2814404"/>  <a:ext cx="1309229" cy="1243767"/> </a:xfrm> <a:prstGeom prst="rect"><a:avLst/></a:prstGeom></p:spPr></p:pic><p:pic>  <p:nvPicPr><p:cNvPr id="7" name="Image 4" descr="preencoded.png">    </p:cNvPr>    <p:cNvPicPr><a:picLocks noChangeAspect="1"/></p:cNvPicPr>    <p:nvPr></p:nvPr>  </p:nvPicPr><p:blipFill><a:blip r:embed="rId6"></a:blip>  <a:stretch><a:fillRect/></a:stretch></p:blipFill><p:spPr> <a:xfrm>  <a:off x="3617289" y="1864316"/>  <a:ext cx="545330" cy="545330"/> </a:xfrm> <a:prstGeom prst="rect"><a:avLst/></a:prstGeom></p:spPr></p:pic><p:pic>  <p:nvPicPr><p:cNvPr id="8" name="Image 5" descr="preencoded.png">    </p:cNvPr>    <p:cNvPicPr><a:picLocks noChangeAspect="1"/></p:cNvPicPr>    <p:nvPr></p:nvPr>  </p:nvPicPr><p:blipFill><a:blip r:embed="rId7"></a:blip>  <a:stretch><a:fillRect/></a:stretch></p:blipFill><p:spPr> <a:xfrm>  <a:off x="4953422" y="1836356"/>  <a:ext cx="601249" cy="601249"/> </a:xfrm> <a:prstGeom prst="rect"><a:avLst/></a:prstGeom></p:spPr></p:pic><p:pic>  <p:nvPicPr><p:cNvPr id="9" name="Image 6" descr="preencoded.png">    </p:cNvPr>    <p:cNvPicPr><a:picLocks noChangeAspect="1"/></p:cNvPicPr>    <p:nvPr></p:nvPr>  </p:nvPicPr><p:blipFill><a:blip r:embed="rId8"></a:blip>  <a:stretch><a:fillRect/></a:stretch></p:blipFill><p:spPr> <a:xfrm>  <a:off x="3596888" y="3143222"/>  <a:ext cx="586130" cy="586130"/> </a:xfrm> <a:prstGeom prst="rect"><a:avLst/></a:prstGeom></p:spPr></p:pic><p:pic>  <p:nvPicPr><p:cNvPr id="10" name="Image 7" descr="preencoded.png">    </p:cNvPr>    <p:cNvPicPr><a:picLocks noChangeAspect="1"/></p:cNvPicPr>    <p:nvPr></p:nvPr>  </p:nvPicPr><p:blipFill><a:blip r:embed="rId9"></a:blip>  <a:stretch><a:fillRect/></a:stretch></p:blipFill><p:spPr> <a:xfrm>  <a:off x="4983841" y="3166082"/>  <a:ext cx="540410" cy="540410"/> </a:xfrm> <a:prstGeom prst="rect"><a:avLst/></a:prstGeom></p:spPr></p:pic><p:sp><p:nvSpPr><p:cNvPr id="11" name="Text 1"></p:cNvPr><p:cNvSpPr/><p:nvPr></p:nvPr></p:nvSpPr><p:spPr><a:xfrm><a:off x="268488" y="947343"/><a:ext cx="2760095" cy="365760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Mạng bị vô hiệu hóa</a:t></a:r><a:endParaRPr lang="en-US" sz="1440" dirty="0"/></a:p></p:txBody></p:sp><p:sp><p:nvSpPr><p:cNvPr id="12" name="Text 2"></p:cNvPr><p:cNvSpPr/><p:nvPr></p:nvPr></p:nvSpPr><p:spPr><a:xfrm><a:off x="276998" y="1424483"/><a:ext cx="2751585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dirty="0"><a:solidFill><a:srgbClr val="00070F"/></a:solidFill><a:latin typeface="&quot" pitchFamily="34" charset="0"/><a:ea typeface="&quot" pitchFamily="34" charset="-122"/><a:cs typeface="&quot" pitchFamily="34" charset="-120"/></a:rPr><a:t>Hạ tầng mạng ngừng hoạt động, dịch vụ không truy cập.</a:t></a:r><a:endParaRPr lang="en-US" sz="1440" dirty="0"/></a:p></p:txBody></p:sp><p:sp><p:nvSpPr><p:cNvPr id="13" name="Text 3"></p:cNvPr><p:cNvSpPr/><p:nvPr></p:nvPr></p:nvSpPr><p:spPr><a:xfrm><a:off x="6133900" y="947343"/><a:ext cx="2741570" cy="36576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Thiệt hại tài chính</a:t></a:r><a:endParaRPr lang="en-US" sz="1440" dirty="0"/></a:p></p:txBody></p:sp><p:sp><p:nvSpPr><p:cNvPr id="14" name="Text 4"></p:cNvPr><p:cNvSpPr/><p:nvPr></p:nvPr></p:nvSpPr><p:spPr><a:xfrm><a:off x="6133857" y="1424483"/><a:ext cx="2741612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dirty="0"><a:solidFill><a:srgbClr val="00070F"/></a:solidFill><a:latin typeface="&quot" pitchFamily="34" charset="0"/><a:ea typeface="&quot" pitchFamily="34" charset="-122"/><a:cs typeface="&quot" pitchFamily="34" charset="-120"/></a:rPr><a:t>Mất doanh thu trực tiếp và chi phí phục hồi hệ thống.</a:t></a:r><a:endParaRPr lang="en-US" sz="1440" dirty="0"/></a:p></p:txBody></p:sp><p:sp><p:nvSpPr><p:cNvPr id="15" name="Text 5"></p:cNvPr><p:cNvSpPr/><p:nvPr></p:nvPr></p:nvSpPr><p:spPr><a:xfrm><a:off x="268488" y="3117165"/><a:ext cx="2760095" cy="365760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Tổ chức bị tê liệt</a:t></a:r><a:endParaRPr lang="en-US" sz="1440" dirty="0"/></a:p></p:txBody></p:sp><p:sp><p:nvSpPr><p:cNvPr id="16" name="Text 6"></p:cNvPr><p:cNvSpPr/><p:nvPr></p:nvPr></p:nvSpPr><p:spPr><a:xfrm><a:off x="276998" y="3601797"/><a:ext cx="2751585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dirty="0"><a:solidFill><a:srgbClr val="00070F"/></a:solidFill><a:latin typeface="&quot" pitchFamily="34" charset="0"/><a:ea typeface="&quot" pitchFamily="34" charset="-122"/><a:cs typeface="&quot" pitchFamily="34" charset="-120"/></a:rPr><a:t>Hoạt động kinh doanh đình trệ hoàn toàn, ảnh hưởng vận hành.</a:t></a:r><a:endParaRPr lang="en-US" sz="1440" dirty="0"/></a:p></p:txBody></p:sp><p:sp><p:nvSpPr><p:cNvPr id="17" name="Text 7"></p:cNvPr><p:cNvSpPr/><p:nvPr></p:nvPr></p:nvSpPr><p:spPr><a:xfrm><a:off x="6133942" y="3117165"/><a:ext cx="2741527" cy="36576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Mất uy tín</a:t></a:r><a:endParaRPr lang="en-US" sz="1440" dirty="0"/></a:p></p:txBody></p:sp><p:sp><p:nvSpPr><p:cNvPr id="18" name="Text 8"></p:cNvPr><p:cNvSpPr/><p:nvPr></p:nvPr></p:nvSpPr><p:spPr><a:xfrm><a:off x="6133900" y="3601797"/><a:ext cx="2741612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dirty="0"><a:solidFill><a:srgbClr val="00070F"/></a:solidFill><a:latin typeface="&quot" pitchFamily="34" charset="0"/><a:ea typeface="&quot" pitchFamily="34" charset="-122"/><a:cs typeface="&quot" pitchFamily="34" charset="-120"/></a:rPr><a:t>Khách hàng mất niềm tin, thiệt hại thương hiệu dài hạn.</a:t></a:r><a:endParaRPr lang="en-US" sz="1440" dirty="0"/></a:p></p:txBody></p:sp></p:spTree></p:cSld><p:clrMapOvr><a:masterClrMapping/></p:clrMapOvr></p:sld>
</file>

<file path=ppt/slides/slide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6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Xu hướng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a:alphaModFix amt="20000"/></a:blip>  <a:stretch><a:fillRect/></a:stretch></p:blipFill><p:spPr> <a:xfrm rot="5400000">  <a:off x="3208524" y="1327146"/>  <a:ext cx="2726952" cy="2726952"/> </a:xfrm> <a:prstGeom prst="rect"><a:avLst/></a:prstGeom></p:spPr></p:pic><p:pic>  <p:nvPicPr><p:cNvPr id="4" name="Image 1" descr="preencoded.png">    </p:cNvPr>    <p:cNvPicPr><a:picLocks noChangeAspect="1"/></p:cNvPicPr>    <p:nvPr></p:nvPr>  </p:nvPicPr><p:blipFill><a:blip r:embed="rId3"><a:alphaModFix amt="20000"/></a:blip>  <a:stretch><a:fillRect/></a:stretch></p:blipFill><p:spPr> <a:xfrm rot="10800000">  <a:off x="3208524" y="1327146"/>  <a:ext cx="2726952" cy="2726952"/> </a:xfrm> <a:prstGeom prst="rect"><a:avLst/></a:prstGeom></p:spPr></p:pic><p:pic>  <p:nvPicPr><p:cNvPr id="5" name="Image 2" descr="preencoded.png">    </p:cNvPr>    <p:cNvPicPr><a:picLocks noChangeAspect="1"/></p:cNvPicPr>    <p:nvPr></p:nvPr>  </p:nvPicPr><p:blipFill><a:blip r:embed="rId4"><a:alphaModFix amt="20000"/></a:blip>  <a:stretch><a:fillRect/></a:stretch></p:blipFill><p:spPr> <a:xfrm>  <a:off x="3208524" y="1327146"/>  <a:ext cx="2726952" cy="2726952"/> </a:xfrm> <a:prstGeom prst="rect"><a:avLst/></a:prstGeom></p:spPr></p:pic><p:pic>  <p:nvPicPr><p:cNvPr id="6" name="Image 3" descr="preencoded.png">    </p:cNvPr>    <p:cNvPicPr><a:picLocks noChangeAspect="1"/></p:cNvPicPr>    <p:nvPr></p:nvPr>  </p:nvPicPr><p:blipFill><a:blip r:embed="rId5"><a:alphaModFix amt="20000"/></a:blip>  <a:stretch><a:fillRect/></a:stretch></p:blipFill><p:spPr> <a:xfrm rot="-5400000">  <a:off x="3208524" y="1327146"/>  <a:ext cx="2726952" cy="2726952"/> </a:xfrm> <a:prstGeom prst="rect"><a:avLst/></a:prstGeom></p:spPr></p:pic><p:sp><p:nvSpPr><p:cNvPr id="7" name="Shape 1"></p:cNvPr><p:cNvSpPr/><p:nvPr></p:nvPr></p:nvSpPr><p:spPr><a:xfrm><a:off x="3421772" y="1500762"/><a:ext cx="698067" cy="698067"/></a:xfrm><a:custGeom><a:avLst /><a:gdLst></a:gdLst><a:ahLst /><a:cxnLst></a:cxnLst><a:rect l="l" t="t" r="r" b="b" /><a:pathLst><a:path w="698067" h="698067"><a:moveTo><a:pt x="349034" y="0" /></a:moveTo><a:moveTo><a:pt x="349034" y="0" /></a:moveTo><a:cubicBezTo>
									<a:pt x="541671" y="0" />
									<a:pt x="698067" y="156397" />
									<a:pt x="698067" y="349034" />
									</a:cubicBezTo><a:cubicBezTo>
									<a:pt x="698067" y="541671" />
									<a:pt x="541671" y="698067" />
									<a:pt x="349034" y="698067" />
									</a:cubicBezTo><a:cubicBezTo>
									<a:pt x="156397" y="698067" />
									<a:pt x="0" y="541671" />
									<a:pt x="0" y="349034" />
									</a:cubicBezTo><a:cubicBezTo>
									<a:pt x="0" y="156397" />
									<a:pt x="156397" y="0" />
									<a:pt x="349034" y="0" />
									</a:cubicBezTo><a:close /></a:path></a:pathLst></a:custGeom><a:solidFill><a:srgbClr val="819063"/></a:solidFill><a:ln></a:ln></p:spPr></p:sp><p:pic>  <p:nvPicPr><p:cNvPr id="8" name="Image 4" descr="preencoded.png">    </p:cNvPr>    <p:cNvPicPr><a:picLocks noChangeAspect="1"/></p:cNvPicPr>    <p:nvPr></p:nvPr>  </p:nvPicPr><p:blipFill><a:blip r:embed="rId6"></a:blip>  <a:stretch><a:fillRect/></a:stretch></p:blipFill><p:spPr> <a:xfrm>  <a:off x="3571125" y="1650115"/>  <a:ext cx="393253" cy="393253"/> </a:xfrm> <a:prstGeom prst="rect"><a:avLst/></a:prstGeom></p:spPr></p:pic><p:sp><p:nvSpPr><p:cNvPr id="9" name="Shape 2"></p:cNvPr><p:cNvSpPr/><p:nvPr></p:nvPr></p:nvSpPr><p:spPr><a:xfrm><a:off x="5007135" y="1457139"/><a:ext cx="698067" cy="698067"/></a:xfrm><a:custGeom><a:avLst /><a:gdLst></a:gdLst><a:ahLst /><a:cxnLst></a:cxnLst><a:rect l="l" t="t" r="r" b="b" /><a:pathLst><a:path w="698067" h="698067"><a:moveTo><a:pt x="349034" y="0" /></a:moveTo><a:moveTo><a:pt x="349034" y="0" /></a:moveTo><a:cubicBezTo>
									<a:pt x="541671" y="0" />
									<a:pt x="698067" y="156397" />
									<a:pt x="698067" y="349034" />
									</a:cubicBezTo><a:cubicBezTo>
									<a:pt x="698067" y="541671" />
									<a:pt x="541671" y="698067" />
									<a:pt x="349034" y="698067" />
									</a:cubicBezTo><a:cubicBezTo>
									<a:pt x="156397" y="698067" />
									<a:pt x="0" y="541671" />
									<a:pt x="0" y="349034" />
									</a:cubicBezTo><a:cubicBezTo>
									<a:pt x="0" y="156397" />
									<a:pt x="156397" y="0" />
									<a:pt x="349034" y="0" />
									</a:cubicBezTo><a:close /></a:path></a:pathLst></a:custGeom><a:solidFill><a:srgbClr val="759063"/></a:solidFill><a:ln></a:ln></p:spPr></p:sp><p:pic>  <p:nvPicPr><p:cNvPr id="10" name="Image 5" descr="preencoded.png">    </p:cNvPr>    <p:cNvPicPr><a:picLocks noChangeAspect="1"/></p:cNvPicPr>    <p:nvPr></p:nvPr>  </p:nvPicPr><p:blipFill><a:blip r:embed="rId7"></a:blip>  <a:stretch><a:fillRect/></a:stretch></p:blipFill><p:spPr> <a:xfrm>  <a:off x="5142684" y="1595870"/>  <a:ext cx="421802" cy="391946"/> </a:xfrm> <a:prstGeom prst="rect"><a:avLst/></a:prstGeom></p:spPr></p:pic><p:sp><p:nvSpPr><p:cNvPr id="11" name="Shape 3"></p:cNvPr><p:cNvSpPr/><p:nvPr></p:nvPr></p:nvSpPr><p:spPr><a:xfrm><a:off x="3421772" y="3141700"/><a:ext cx="674547" cy="674547"/></a:xfrm><a:custGeom><a:avLst /><a:gdLst></a:gdLst><a:ahLst /><a:cxnLst></a:cxnLst><a:rect l="l" t="t" r="r" b="b" /><a:pathLst><a:path w="674547" h="674547"><a:moveTo><a:pt x="337273" y="0" /></a:moveTo><a:moveTo><a:pt x="337273" y="0" /></a:moveTo><a:cubicBezTo>
									<a:pt x="523420" y="0" />
									<a:pt x="674547" y="151127" />
									<a:pt x="674547" y="337273" />
									</a:cubicBezTo><a:cubicBezTo>
									<a:pt x="674547" y="523420" />
									<a:pt x="523420" y="674547" />
									<a:pt x="337273" y="674547" />
									</a:cubicBezTo><a:cubicBezTo>
									<a:pt x="151127" y="674547" />
									<a:pt x="0" y="523420" />
									<a:pt x="0" y="337273" />
									</a:cubicBezTo><a:cubicBezTo>
									<a:pt x="0" y="151127" />
									<a:pt x="151127" y="0" />
									<a:pt x="337273" y="0" />
									</a:cubicBezTo><a:close /></a:path></a:pathLst></a:custGeom><a:solidFill><a:srgbClr val="759063"/></a:solidFill><a:ln></a:ln></p:spPr></p:sp><p:pic>  <p:nvPicPr><p:cNvPr id="12" name="Image 6" descr="preencoded.png">    </p:cNvPr>    <p:cNvPicPr><a:picLocks noChangeAspect="1"/></p:cNvPicPr>    <p:nvPr></p:nvPr>  </p:nvPicPr><p:blipFill><a:blip r:embed="rId8"></a:blip>  <a:stretch><a:fillRect/></a:stretch></p:blipFill><p:spPr> <a:xfrm>  <a:off x="3566093" y="3325085"/>  <a:ext cx="380003" cy="344967"/> </a:xfrm> <a:prstGeom prst="rect"><a:avLst/></a:prstGeom></p:spPr></p:pic><p:sp><p:nvSpPr><p:cNvPr id="13" name="Shape 4"></p:cNvPr><p:cNvSpPr/><p:nvPr></p:nvPr></p:nvSpPr><p:spPr><a:xfrm><a:off x="5007135" y="3129940"/><a:ext cx="686307" cy="686307"/></a:xfrm><a:custGeom><a:avLst /><a:gdLst></a:gdLst><a:ahLst /><a:cxnLst></a:cxnLst><a:rect l="l" t="t" r="r" b="b" /><a:pathLst><a:path w="686307" h="686307"><a:moveTo><a:pt x="343154" y="0" /></a:moveTo><a:moveTo><a:pt x="343154" y="0" /></a:moveTo><a:cubicBezTo>
									<a:pt x="532545" y="0" />
									<a:pt x="686307" y="153762" />
									<a:pt x="686307" y="343154" />
									</a:cubicBezTo><a:cubicBezTo>
									<a:pt x="686307" y="532545" />
									<a:pt x="532545" y="686307" />
									<a:pt x="343154" y="686307" />
									</a:cubicBezTo><a:cubicBezTo>
									<a:pt x="153762" y="686307" />
									<a:pt x="0" y="532545" />
									<a:pt x="0" y="343154" />
									</a:cubicBezTo><a:cubicBezTo>
									<a:pt x="0" y="153762" />
									<a:pt x="153762" y="0" />
									<a:pt x="343154" y="0" />
									</a:cubicBezTo><a:close /></a:path></a:pathLst></a:custGeom><a:solidFill><a:srgbClr val="819063"/></a:solidFill><a:ln></a:ln></p:spPr></p:sp><p:pic>  <p:nvPicPr><p:cNvPr id="14" name="Image 7" descr="preencoded.png">    </p:cNvPr>    <p:cNvPicPr><a:picLocks noChangeAspect="1"/></p:cNvPicPr>    <p:nvPr></p:nvPr>  </p:nvPicPr><p:blipFill><a:blip r:embed="rId9"></a:blip>  <a:stretch><a:fillRect/></a:stretch></p:blipFill><p:spPr> <a:xfrm>  <a:off x="5121760" y="3244565"/>  <a:ext cx="469105" cy="469105"/> </a:xfrm> <a:prstGeom prst="rect"><a:avLst/></a:prstGeom></p:spPr></p:pic><p:sp><p:nvSpPr><p:cNvPr id="15" name="Text 5"></p:cNvPr><p:cNvSpPr/><p:nvPr></p:nvPr></p:nvSpPr><p:spPr><a:xfrm><a:off x="258693" y="93911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Tăng quy mô tấn công.</a:t></a:r><a:endParaRPr lang="en-US" sz="1440" dirty="0"/></a:p></p:txBody></p:sp><p:sp><p:nvSpPr><p:cNvPr id="16" name="Text 6"></p:cNvPr><p:cNvSpPr/><p:nvPr></p:nvPr></p:nvSpPr><p:spPr><a:xfrm><a:off x="253537" y="1370708"/><a:ext cx="2838893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Kích thước trung bình 7.39 Gbps, tăng mạnh theo năm.</a:t></a:r><a:endParaRPr lang="en-US" sz="1440" dirty="0"/></a:p></p:txBody></p:sp><p:sp><p:nvSpPr><p:cNvPr id="17" name="Text 7"></p:cNvPr><p:cNvSpPr/><p:nvPr></p:nvPr></p:nvSpPr><p:spPr><a:xfrm><a:off x="6002866" y="939111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Tấn công đa vector.</a:t></a:r><a:endParaRPr lang="en-US" sz="1440" dirty="0"/></a:p></p:txBody></p:sp><p:sp><p:nvSpPr><p:cNvPr id="18" name="Text 8"></p:cNvPr><p:cNvSpPr/><p:nvPr></p:nvPr></p:nvSpPr><p:spPr><a:xfrm><a:off x="6002866" y="1370686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Kết hợp volumetric, application, TCP exhaustion và phản chiếu DRDoS.</a:t></a:r><a:endParaRPr lang="en-US" sz="1440" dirty="0"/></a:p></p:txBody></p:sp><p:sp><p:nvSpPr><p:cNvPr id="19" name="Text 9"></p:cNvPr><p:cNvSpPr/><p:nvPr></p:nvPr></p:nvSpPr><p:spPr><a:xfrm><a:off x="258693" y="317116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Botnet lan rộng.</a:t></a:r><a:endParaRPr lang="en-US" sz="1440" dirty="0"/></a:p></p:txBody></p:sp><p:sp><p:nvSpPr><p:cNvPr id="20" name="Text 10"></p:cNvPr><p:cNvSpPr/><p:nvPr></p:nvPr></p:nvSpPr><p:spPr><a:xfrm><a:off x="253537" y="3595443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Botnet mở rộng qua lây nhiễm, C&amp;C, tạo công suất tấn công lớn.</a:t></a:r><a:endParaRPr lang="en-US" sz="1440" dirty="0"/></a:p></p:txBody></p:sp><p:sp><p:nvSpPr><p:cNvPr id="21" name="Text 11"></p:cNvPr><p:cNvSpPr/><p:nvPr></p:nvPr></p:nvSpPr><p:spPr><a:xfrm><a:off x="6002866" y="3171139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Công cụ và di động.</a:t></a:r><a:endParaRPr lang="en-US" sz="1440" dirty="0"/></a:p></p:txBody></p:sp><p:sp><p:nvSpPr><p:cNvPr id="22" name="Text 12"></p:cNvPr><p:cNvSpPr/><p:nvPr></p:nvPr></p:nvSpPr><p:spPr><a:xfrm><a:off x="6002866" y="3595443"/><a:ext cx="2869730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Công cụ phổ biến và tấn công từ Android, dễ tổ chức quy mô.</a:t></a:r><a:endParaRPr lang="en-US" sz="1440" dirty="0"/></a:p></p:txBody></p:sp></p:spTree></p:cSld><p:clrMapOvr><a:masterClrMapping/></p:clrMapOvr>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5323" y="2501765"/>
            <a:ext cx="3813354" cy="5029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thuật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868512" y="1395341"/>
            <a:ext cx="1406976" cy="12527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61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02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423758" y="3325333"/>
            <a:ext cx="296485" cy="0"/>
          </a:xfrm>
          <a:custGeom>
            <a:avLst/>
            <a:gdLst/>
            <a:ahLst/>
            <a:cxnLst/>
            <a:rect l="l" t="t" r="r" b="b"/>
            <a:pathLst>
              <a:path w="296485" h="0">
                <a:moveTo>
                  <a:pt x="0" y="0"/>
                </a:moveTo>
                <a:moveTo>
                  <a:pt x="0" y="0"/>
                </a:moveTo>
                <a:lnTo>
                  <a:pt x="296485" y="0"/>
                </a:lnTo>
              </a:path>
            </a:pathLst>
          </a:custGeom>
          <a:noFill/>
          <a:ln w="19050">
            <a:solidFill>
              <a:srgbClr val="69862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8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Volumetric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/a:blip>  <a:stretch><a:fillRect/></a:stretch></p:blipFill><p:spPr> <a:xfrm>  <a:off x="3197694" y="1135707"/>  <a:ext cx="2748612" cy="2748612"/> </a:xfrm> <a:prstGeom prst="rect"><a:avLst/></a:prstGeom></p:spPr></p:pic><p:pic>  <p:nvPicPr><p:cNvPr id="4" name="Image 1" descr="preencoded.png">    </p:cNvPr>    <p:cNvPicPr><a:picLocks noChangeAspect="1"/></p:cNvPicPr>    <p:nvPr></p:nvPr>  </p:nvPicPr><p:blipFill><a:blip r:embed="rId3"><a:alphaModFix amt="30000"/></a:blip>  <a:stretch><a:fillRect/></a:stretch></p:blipFill><p:spPr> <a:xfrm>  <a:off x="3197694" y="1135707"/>  <a:ext cx="2748612" cy="2748612"/> </a:xfrm> <a:prstGeom prst="rect"><a:avLst/></a:prstGeom></p:spPr></p:pic><p:pic>  <p:nvPicPr><p:cNvPr id="5" name="Image 2" descr="preencoded.png">    </p:cNvPr>    <p:cNvPicPr><a:picLocks noChangeAspect="1"/></p:cNvPicPr>    <p:nvPr></p:nvPr>  </p:nvPicPr><p:blipFill><a:blip r:embed="rId4"></a:blip>  <a:stretch><a:fillRect/></a:stretch></p:blipFill><p:spPr> <a:xfrm>  <a:off x="3197694" y="1135707"/>  <a:ext cx="2748612" cy="2748612"/> </a:xfrm> <a:prstGeom prst="rect"><a:avLst/></a:prstGeom></p:spPr></p:pic><p:pic>  <p:nvPicPr><p:cNvPr id="6" name="Image 3" descr="preencoded.png">    </p:cNvPr>    <p:cNvPicPr><a:picLocks noChangeAspect="1"/></p:cNvPicPr>    <p:nvPr></p:nvPr>  </p:nvPicPr><p:blipFill><a:blip r:embed="rId5"><a:alphaModFix amt="30000"/></a:blip>  <a:stretch><a:fillRect/></a:stretch></p:blipFill><p:spPr> <a:xfrm>  <a:off x="3197694" y="1135707"/>  <a:ext cx="2748612" cy="2748612"/> </a:xfrm> <a:prstGeom prst="rect"><a:avLst/></a:prstGeom></p:spPr></p:pic><p:sp><p:nvSpPr><p:cNvPr id="7" name="Text 1"></p:cNvPr><p:cNvSpPr/><p:nvPr></p:nvPr></p:nvSpPr><p:spPr><a:xfrm><a:off x="258693" y="93911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Định nghĩa Volumetric.</a:t></a:r><a:endParaRPr lang="en-US" sz="1440" dirty="0"/></a:p></p:txBody></p:sp><p:sp><p:nvSpPr><p:cNvPr id="8" name="Text 2"></p:cNvPr><p:cNvSpPr/><p:nvPr></p:nvPr></p:nvSpPr><p:spPr><a:xfrm><a:off x="253537" y="1370708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Tiêu thụ toàn bộ băng thông mục tiêu bằng lưu lượng tràn ngập.</a:t></a:r><a:endParaRPr lang="en-US" sz="1440" dirty="0"/></a:p></p:txBody></p:sp><p:sp><p:nvSpPr><p:cNvPr id="9" name="Text 3"></p:cNvPr><p:cNvSpPr/><p:nvPr></p:nvPr></p:nvSpPr><p:spPr><a:xfrm><a:off x="6002866" y="939111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Nguyên lý tấn công.</a:t></a:r><a:endParaRPr lang="en-US" sz="1440" dirty="0"/></a:p></p:txBody></p:sp><p:sp><p:nvSpPr><p:cNvPr id="10" name="Text 4"></p:cNvPr><p:cNvSpPr/><p:nvPr></p:nvPr></p:nvSpPr><p:spPr><a:xfrm><a:off x="6002866" y="1370686"/><a:ext cx="2869730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Gửi lượng gói yêu cầu lớn để làm nghẽn liên kết mạng.</a:t></a:r><a:endParaRPr lang="en-US" sz="1440" dirty="0"/></a:p></p:txBody></p:sp><p:sp><p:nvSpPr><p:cNvPr id="11" name="Text 5"></p:cNvPr><p:cNvSpPr/><p:nvPr></p:nvPr></p:nvSpPr><p:spPr><a:xfrm><a:off x="258693" y="317116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Ví dụ tấn công.</a:t></a:r><a:endParaRPr lang="en-US" sz="1440" dirty="0"/></a:p></p:txBody></p:sp><p:sp><p:nvSpPr><p:cNvPr id="12" name="Text 6"></p:cNvPr><p:cNvSpPr/><p:nvPr></p:nvPr></p:nvSpPr><p:spPr><a:xfrm><a:off x="253537" y="3595443"/><a:ext cx="2838893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UDP/ICMP flood, DNS và NTP phản chiếu (DRDoS) phổ biến.</a:t></a:r><a:endParaRPr lang="en-US" sz="1440" dirty="0"/></a:p></p:txBody></p:sp><p:sp><p:nvSpPr><p:cNvPr id="13" name="Text 7"></p:cNvPr><p:cNvSpPr/><p:nvPr></p:nvPr></p:nvSpPr><p:spPr><a:xfrm><a:off x="6002866" y="3171139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Ảnh hưởng chính.</a:t></a:r><a:endParaRPr lang="en-US" sz="1440" dirty="0"/></a:p></p:txBody></p:sp><p:sp><p:nvSpPr><p:cNvPr id="14" name="Text 8"></p:cNvPr><p:cNvSpPr/><p:nvPr></p:nvPr></p:nvSpPr><p:spPr><a:xfrm><a:off x="6002866" y="3595443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Ngừng dịch vụ, giảm hiệu năng, thiệt hại tài chính và uy tín.</a:t></a:r><a:endParaRPr lang="en-US" sz="1440" dirty="0"/></a:p></p:txBody></p:sp></p:spTree></p:cSld><p:clrMapOvr><a:masterClrMapping/></p:clrMapOvr></p:sld>
</file>

<file path=ppt/slides/slide9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9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SYN Flood</a:t></a:r><a:endParaRPr lang="en-US" sz="1440" dirty="0"/></a:p></p:txBody></p:sp><p:sp><p:nvSpPr><p:cNvPr id="3" name="Shape 1"></p:cNvPr><p:cNvSpPr/><p:nvPr></p:nvPr></p:nvSpPr><p:spPr><a:xfrm><a:off x="6639960" y="1921681"/><a:ext cx="2241485" cy="593993"/></a:xfrm><a:custGeom><a:avLst /><a:gdLst></a:gdLst><a:ahLst /><a:cxnLst></a:cxnLst><a:rect l="l" t="t" r="r" b="b" /><a:pathLst><a:path w="2241485" h="593993"><a:moveTo><a:pt x="0" y="0" /></a:moveTo><a:moveTo><a:pt x="0" y="0" /></a:moveTo><a:lnTo><a:pt x="2241485" y="0" /></a:lnTo><a:lnTo><a:pt x="2241485" y="593993" /></a:lnTo><a:lnTo><a:pt x="0" y="593993" /></a:lnTo><a:close /></a:path></a:pathLst></a:custGeom><a:solidFill><a:srgbClr val="759063"/></a:solidFill><a:ln></a:ln></p:spPr></p:sp><p:sp><p:nvSpPr><p:cNvPr id="4" name="Shape 2"></p:cNvPr><p:cNvSpPr/><p:nvPr></p:nvPr></p:nvSpPr><p:spPr><a:xfrm><a:off x="4515159" y="1624684"/><a:ext cx="2241485" cy="593993"/></a:xfrm><a:custGeom><a:avLst /><a:gdLst></a:gdLst><a:ahLst /><a:cxnLst></a:cxnLst><a:rect l="l" t="t" r="r" b="b" /><a:pathLst><a:path w="2241485" h="593993"><a:moveTo><a:pt x="0" y="0" /></a:moveTo><a:moveTo><a:pt x="0" y="0" /></a:moveTo><a:lnTo><a:pt x="2241485" y="0" /></a:lnTo><a:lnTo><a:pt x="2241485" y="593993" /></a:lnTo><a:lnTo><a:pt x="0" y="593993" /></a:lnTo><a:close /></a:path></a:pathLst></a:custGeom><a:solidFill><a:srgbClr val="819063"/></a:solidFill><a:ln></a:ln></p:spPr></p:sp><p:sp><p:nvSpPr><p:cNvPr id="5" name="Shape 3"></p:cNvPr><p:cNvSpPr/><p:nvPr></p:nvPr></p:nvSpPr><p:spPr><a:xfrm><a:off x="2390357" y="1327687"/><a:ext cx="2241485" cy="593993"/></a:xfrm><a:custGeom><a:avLst /><a:gdLst></a:gdLst><a:ahLst /><a:cxnLst></a:cxnLst><a:rect l="l" t="t" r="r" b="b" /><a:pathLst><a:path w="2241485" h="593993"><a:moveTo><a:pt x="0" y="0" /></a:moveTo><a:moveTo><a:pt x="0" y="0" /></a:moveTo><a:lnTo><a:pt x="2241485" y="0" /></a:lnTo><a:lnTo><a:pt x="2241485" y="593993" /></a:lnTo><a:lnTo><a:pt x="0" y="593993" /></a:lnTo><a:close /></a:path></a:pathLst></a:custGeom><a:solidFill><a:srgbClr val="759063"/></a:solidFill><a:ln></a:ln></p:spPr></p:sp><p:sp><p:nvSpPr><p:cNvPr id="6" name="Shape 4"></p:cNvPr><p:cNvSpPr/><p:nvPr></p:nvPr></p:nvSpPr><p:spPr><a:xfrm><a:off x="262555" y="1097720"/><a:ext cx="2241485" cy="593993"/></a:xfrm><a:custGeom><a:avLst /><a:gdLst></a:gdLst><a:ahLst /><a:cxnLst></a:cxnLst><a:rect l="l" t="t" r="r" b="b" /><a:pathLst><a:path w="2241485" h="593993"><a:moveTo><a:pt x="0" y="0" /></a:moveTo><a:moveTo><a:pt x="0" y="0" /></a:moveTo><a:lnTo><a:pt x="2241485" y="0" /></a:lnTo><a:lnTo><a:pt x="2241485" y="593993" /></a:lnTo><a:lnTo><a:pt x="0" y="593993" /></a:lnTo><a:close /></a:path></a:pathLst></a:custGeom><a:solidFill><a:srgbClr val="819063"/></a:solidFill><a:ln></a:ln></p:spPr></p:sp><p:sp><p:nvSpPr><p:cNvPr id="7" name="Text 5"></p:cNvPr><p:cNvSpPr/><p:nvPr></p:nvPr></p:nvSpPr><p:spPr><a:xfrm><a:off x="262555" y="1097720"/><a:ext cx="851764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01</a:t></a:r><a:endParaRPr lang="en-US" sz="1440" dirty="0"/></a:p></p:txBody></p:sp><p:sp><p:nvSpPr><p:cNvPr id="8" name="Text 6"></p:cNvPr><p:cNvSpPr/><p:nvPr></p:nvPr></p:nvSpPr><p:spPr><a:xfrm><a:off x="2507040" y="1327992"/><a:ext cx="851764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02</a:t></a:r><a:endParaRPr lang="en-US" sz="1440" dirty="0"/></a:p></p:txBody></p:sp><p:sp><p:nvSpPr><p:cNvPr id="9" name="Text 7"></p:cNvPr><p:cNvSpPr/><p:nvPr></p:nvPr></p:nvSpPr><p:spPr><a:xfrm><a:off x="4631841" y="1624836"/><a:ext cx="851764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03</a:t></a:r><a:endParaRPr lang="en-US" sz="1440" dirty="0"/></a:p></p:txBody></p:sp><p:sp><p:nvSpPr><p:cNvPr id="10" name="Text 8"></p:cNvPr><p:cNvSpPr/><p:nvPr></p:nvPr></p:nvSpPr><p:spPr><a:xfrm><a:off x="6756643" y="1921681"/><a:ext cx="851764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04</a:t></a:r><a:endParaRPr lang="en-US" sz="1440" dirty="0"/></a:p></p:txBody></p:sp><p:sp><p:nvSpPr><p:cNvPr id="11" name="Text 9"></p:cNvPr><p:cNvSpPr/><p:nvPr></p:nvPr></p:nvSpPr><p:spPr><a:xfrm><a:off x="262555" y="1682138"/><a:ext cx="2127802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Khái niệm SYN Flood</a:t></a:r><a:endParaRPr lang="en-US" sz="1440" dirty="0"/></a:p></p:txBody></p:sp><p:sp><p:nvSpPr><p:cNvPr id="12" name="Text 10"></p:cNvPr><p:cNvSpPr/><p:nvPr></p:nvPr></p:nvSpPr><p:spPr><a:xfrm><a:off x="262555" y="2282685"/><a:ext cx="2079924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Tấn công tràn listen queue bằng SYN giả, gây từ chối dịch vụ.</a:t></a:r><a:endParaRPr lang="en-US" sz="1440" dirty="0"/></a:p></p:txBody></p:sp><p:sp><p:nvSpPr><p:cNvPr id="13" name="Text 11"></p:cNvPr><p:cNvSpPr/><p:nvPr></p:nvPr></p:nvSpPr><p:spPr><a:xfrm><a:off x="2390357" y="1912105"/><a:ext cx="2124802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296" b="1" dirty="0"><a:solidFill><a:srgbClr val="759063"/></a:solidFill><a:latin typeface="Noto Sans" pitchFamily="34" charset="0"/><a:ea typeface="Noto Sans" pitchFamily="34" charset="-122"/><a:cs typeface="Noto Sans" pitchFamily="34" charset="-120"/></a:rPr><a:t>Cơ chế tấn công</a:t></a:r><a:endParaRPr lang="en-US" sz="1440" dirty="0"/></a:p></p:txBody></p:sp><p:sp><p:nvSpPr><p:cNvPr id="14" name="Text 12"></p:cNvPr><p:cNvSpPr/><p:nvPr></p:nvPr></p:nvSpPr><p:spPr><a:xfrm><a:off x="2390757" y="2512384"/><a:ext cx="2124402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Gửi SYN hàng loạt, không trả ACK, làm đầy bảng kết nối.</a:t></a:r><a:endParaRPr lang="en-US" sz="1440" dirty="0"/></a:p></p:txBody></p:sp><p:sp><p:nvSpPr><p:cNvPr id="15" name="Text 13"></p:cNvPr><p:cNvSpPr/><p:nvPr></p:nvPr></p:nvSpPr><p:spPr><a:xfrm><a:off x="4515159" y="2189501"/><a:ext cx="2124802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Ảnh hưởng hệ thống</a:t></a:r><a:endParaRPr lang="en-US" sz="1440" dirty="0"/></a:p></p:txBody></p:sp><p:sp><p:nvSpPr><p:cNvPr id="16" name="Text 14"></p:cNvPr><p:cNvSpPr/><p:nvPr></p:nvPr></p:nvSpPr><p:spPr><a:xfrm><a:off x="4515159" y="2799269"/><a:ext cx="2124802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Hết kết nối, dịch vụ ngừng, thiệt hại tài chính và uy tín.</a:t></a:r><a:endParaRPr lang="en-US" sz="1440" dirty="0"/></a:p></p:txBody></p:sp><p:sp><p:nvSpPr><p:cNvPr id="17" name="Text 15"></p:cNvPr><p:cNvSpPr/><p:nvPr></p:nvPr></p:nvSpPr><p:spPr><a:xfrm><a:off x="6639960" y="2496523"/><a:ext cx="2241485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759063"/></a:solidFill><a:latin typeface="Noto Sans" pitchFamily="34" charset="0"/><a:ea typeface="Noto Sans" pitchFamily="34" charset="-122"/><a:cs typeface="Noto Sans" pitchFamily="34" charset="-120"/></a:rPr><a:t>Phương pháp phòng ngừa</a:t></a:r><a:endParaRPr lang="en-US" sz="1440" dirty="0"/></a:p></p:txBody></p:sp><p:sp><p:nvSpPr><p:cNvPr id="18" name="Text 16"></p:cNvPr><p:cNvSpPr/><p:nvPr></p:nvPr></p:nvSpPr><p:spPr><a:xfrm><a:off x="6639960" y="3105106"/><a:ext cx="2241485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SYN cookies, TCP intercept, lọc, giới hạn tốc độ và cân bằng tải.</a:t></a:r><a:endParaRPr lang="en-US" sz="1440" dirty="0"/></a:p></p:txBody></p:sp></p:spTree></p:cSld><p:clrMapOvr><a:masterClrMapping/></p:clrMapOvr></p:sld>
</file>

<file path=ppt/slides/slide10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0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DRDoS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/a:blip>  <a:stretch><a:fillRect/></a:stretch></p:blipFill><p:spPr> <a:xfrm>  <a:off x="3257408" y="1096952"/>  <a:ext cx="1490751" cy="1490751"/> </a:xfrm> <a:prstGeom prst="rect"><a:avLst/></a:prstGeom></p:spPr></p:pic><p:pic>  <p:nvPicPr><p:cNvPr id="4" name="Image 1" descr="preencoded.png">    </p:cNvPr>    <p:cNvPicPr><a:picLocks noChangeAspect="1"/></p:cNvPicPr>    <p:nvPr></p:nvPr>  </p:nvPicPr><p:blipFill><a:blip r:embed="rId3"><a:alphaModFix amt="30000"/></a:blip>  <a:stretch><a:fillRect/></a:stretch></p:blipFill><p:spPr> <a:xfrm>  <a:off x="4087181" y="3405366"/>  <a:ext cx="930409" cy="930409"/> </a:xfrm> <a:prstGeom prst="rect"><a:avLst/></a:prstGeom></p:spPr></p:pic><p:pic>  <p:nvPicPr><p:cNvPr id="5" name="Image 2" descr="preencoded.png">    </p:cNvPr>    <p:cNvPicPr><a:picLocks noChangeAspect="1"/></p:cNvPicPr>    <p:nvPr></p:nvPr>  </p:nvPicPr><p:blipFill><a:blip r:embed="rId4"></a:blip>  <a:stretch><a:fillRect/></a:stretch></p:blipFill><p:spPr> <a:xfrm>  <a:off x="4245240" y="1082045"/>  <a:ext cx="1346724" cy="1346724"/> </a:xfrm> <a:prstGeom prst="rect"><a:avLst/></a:prstGeom></p:spPr></p:pic><p:pic>  <p:nvPicPr><p:cNvPr id="6" name="Image 3" descr="preencoded.png">    </p:cNvPr>    <p:cNvPicPr><a:picLocks noChangeAspect="1"/></p:cNvPicPr>    <p:nvPr></p:nvPr>  </p:nvPicPr><p:blipFill><a:blip r:embed="rId5"></a:blip>  <a:stretch><a:fillRect/></a:stretch></p:blipFill><p:spPr> <a:xfrm>  <a:off x="3427851" y="2003743"/>  <a:ext cx="1490751" cy="1490751"/> </a:xfrm> <a:prstGeom prst="rect"><a:avLst/></a:prstGeom></p:spPr></p:pic><p:pic>  <p:nvPicPr><p:cNvPr id="7" name="Image 4" descr="preencoded.png">    </p:cNvPr>    <p:cNvPicPr><a:picLocks noChangeAspect="1"/></p:cNvPicPr>    <p:nvPr></p:nvPr>  </p:nvPicPr><p:blipFill><a:blip r:embed="rId6"></a:blip>  <a:stretch><a:fillRect/></a:stretch></p:blipFill><p:spPr> <a:xfrm>  <a:off x="4385214" y="1903981"/>  <a:ext cx="1501378" cy="1532018"/> </a:xfrm> <a:prstGeom prst="rect"><a:avLst/></a:prstGeom></p:spPr></p:pic><p:sp><p:nvSpPr><p:cNvPr id="8" name="Text 1"></p:cNvPr><p:cNvSpPr/><p:nvPr></p:nvPr></p:nvSpPr><p:spPr><a:xfrm><a:off x="258693" y="93911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Định nghĩa DRDoS.</a:t></a:r><a:endParaRPr lang="en-US" sz="1440" dirty="0"/></a:p></p:txBody></p:sp><p:sp><p:nvSpPr><p:cNvPr id="9" name="Text 2"></p:cNvPr><p:cNvSpPr/><p:nvPr></p:nvPr></p:nvSpPr><p:spPr><a:xfrm><a:off x="253537" y="1370708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Tấn công phản chiếu, lợi dụng máy trung gian để che giấu nguồn.</a:t></a:r><a:endParaRPr lang="en-US" sz="1440" dirty="0"/></a:p></p:txBody></p:sp><p:sp><p:nvSpPr><p:cNvPr id="10" name="Text 3"></p:cNvPr><p:cNvSpPr/><p:nvPr></p:nvPr></p:nvSpPr><p:spPr><a:xfrm><a:off x="6002866" y="939111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Cơ chế hoạt động.</a:t></a:r><a:endParaRPr lang="en-US" sz="1440" dirty="0"/></a:p></p:txBody></p:sp><p:sp><p:nvSpPr><p:cNvPr id="11" name="Text 4"></p:cNvPr><p:cNvSpPr/><p:nvPr></p:nvPr></p:nvSpPr><p:spPr><a:xfrm><a:off x="6002866" y="1370686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Gửi yêu cầu giả mạo, máy trung gian phản hồi dồn dập mục tiêu.</a:t></a:r><a:endParaRPr lang="en-US" sz="1440" dirty="0"/></a:p></p:txBody></p:sp><p:sp><p:nvSpPr><p:cNvPr id="12" name="Text 5"></p:cNvPr><p:cNvSpPr/><p:nvPr></p:nvPr></p:nvSpPr><p:spPr><a:xfrm><a:off x="258693" y="317116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Hiệu ứng khuếch đại.</a:t></a:r><a:endParaRPr lang="en-US" sz="1440" dirty="0"/></a:p></p:txBody></p:sp><p:sp><p:nvSpPr><p:cNvPr id="13" name="Text 6"></p:cNvPr><p:cNvSpPr/><p:nvPr></p:nvPr></p:nvSpPr><p:spPr><a:xfrm><a:off x="253537" y="3595443"/><a:ext cx="2838893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Phản hồi lớn hơn yêu cầu, tăng lưu lượng tấn công.</a:t></a:r><a:endParaRPr lang="en-US" sz="1440" dirty="0"/></a:p></p:txBody></p:sp><p:sp><p:nvSpPr><p:cNvPr id="14" name="Text 7"></p:cNvPr><p:cNvSpPr/><p:nvPr></p:nvPr></p:nvSpPr><p:spPr><a:xfrm><a:off x="6002866" y="3171139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Che giấu nguồn.</a:t></a:r><a:endParaRPr lang="en-US" sz="1440" dirty="0"/></a:p></p:txBody></p:sp><p:sp><p:nvSpPr><p:cNvPr id="15" name="Text 8"></p:cNvPr><p:cNvSpPr/><p:nvPr></p:nvPr></p:nvSpPr><p:spPr><a:xfrm><a:off x="6002866" y="3595443"/><a:ext cx="2869730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Lợi dụng máy trung gian để ẩn IP máy tấn công thật.</a:t></a:r><a:endParaRPr lang="en-US" sz="1440" dirty="0"/></a:p></p:txBody></p:sp></p:spTree></p:cSld><p:clrMapOvr><a:masterClrMapping/></p:clrMapOvr>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TCP State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1249220" y="969902"/>
            <a:ext cx="6654847" cy="90579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860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819063">
              <a:alpha val="902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245364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819063">
              <a:alpha val="902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467868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819063">
              <a:alpha val="902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903720" y="2582266"/>
            <a:ext cx="2011680" cy="655679"/>
          </a:xfrm>
          <a:custGeom>
            <a:avLst/>
            <a:gdLst/>
            <a:ahLst/>
            <a:cxnLst/>
            <a:rect l="l" t="t" r="r" b="b"/>
            <a:pathLst>
              <a:path w="2011680" h="655679">
                <a:moveTo>
                  <a:pt x="0" y="0"/>
                </a:moveTo>
                <a:moveTo>
                  <a:pt x="0" y="0"/>
                </a:moveTo>
                <a:lnTo>
                  <a:pt x="2011680" y="0"/>
                </a:lnTo>
                <a:lnTo>
                  <a:pt x="2011680" y="655679"/>
                </a:lnTo>
                <a:lnTo>
                  <a:pt x="0" y="655679"/>
                </a:lnTo>
                <a:close/>
              </a:path>
            </a:pathLst>
          </a:custGeom>
          <a:solidFill>
            <a:srgbClr val="819063">
              <a:alpha val="902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232999" y="2727225"/>
            <a:ext cx="201217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 tiêu tấn công.</a:t>
            </a:r>
            <a:endParaRPr lang="en-US" sz="1440" dirty="0"/>
          </a:p>
        </p:txBody>
      </p:sp>
      <p:sp>
        <p:nvSpPr>
          <p:cNvPr id="9" name="Text 6"/>
          <p:cNvSpPr/>
          <p:nvPr/>
        </p:nvSpPr>
        <p:spPr>
          <a:xfrm>
            <a:off x="228600" y="3252817"/>
            <a:ext cx="2011680" cy="123444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Chiếm dụng bảng kết nối firewall và load‑balancer, làm cạn kiệt trạng thái TCP.</a:t>
            </a:r>
            <a:endParaRPr lang="en-US" sz="1440" dirty="0"/>
          </a:p>
        </p:txBody>
      </p:sp>
      <p:sp>
        <p:nvSpPr>
          <p:cNvPr id="10" name="Text 7"/>
          <p:cNvSpPr/>
          <p:nvPr/>
        </p:nvSpPr>
        <p:spPr>
          <a:xfrm>
            <a:off x="245852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Cơ chế hoạt động.</a:t>
            </a:r>
            <a:endParaRPr lang="en-US" sz="1440" dirty="0"/>
          </a:p>
        </p:txBody>
      </p:sp>
      <p:sp>
        <p:nvSpPr>
          <p:cNvPr id="11" name="Text 8"/>
          <p:cNvSpPr/>
          <p:nvPr/>
        </p:nvSpPr>
        <p:spPr>
          <a:xfrm>
            <a:off x="2453640" y="3252817"/>
            <a:ext cx="2011680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Gửi nhiều kết nối TCP nửa chừng để làm đầy listen queue.</a:t>
            </a:r>
            <a:endParaRPr lang="en-US" sz="1440" dirty="0"/>
          </a:p>
        </p:txBody>
      </p:sp>
      <p:sp>
        <p:nvSpPr>
          <p:cNvPr id="12" name="Text 9"/>
          <p:cNvSpPr/>
          <p:nvPr/>
        </p:nvSpPr>
        <p:spPr>
          <a:xfrm>
            <a:off x="468356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SYN Flood.</a:t>
            </a:r>
            <a:endParaRPr lang="en-US" sz="1440" dirty="0"/>
          </a:p>
        </p:txBody>
      </p:sp>
      <p:sp>
        <p:nvSpPr>
          <p:cNvPr id="13" name="Text 10"/>
          <p:cNvSpPr/>
          <p:nvPr/>
        </p:nvSpPr>
        <p:spPr>
          <a:xfrm>
            <a:off x="4678680" y="3252817"/>
            <a:ext cx="201168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Lợi dụng bắt tay TCP ba bước, làm tràn listen queue.</a:t>
            </a:r>
            <a:endParaRPr lang="en-US" sz="1440" dirty="0"/>
          </a:p>
        </p:txBody>
      </p:sp>
      <p:sp>
        <p:nvSpPr>
          <p:cNvPr id="14" name="Text 11"/>
          <p:cNvSpPr/>
          <p:nvPr/>
        </p:nvSpPr>
        <p:spPr>
          <a:xfrm>
            <a:off x="6908609" y="2727225"/>
            <a:ext cx="2011680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Tác động.</a:t>
            </a:r>
            <a:endParaRPr lang="en-US" sz="1440" dirty="0"/>
          </a:p>
        </p:txBody>
      </p:sp>
      <p:sp>
        <p:nvSpPr>
          <p:cNvPr id="15" name="Text 12"/>
          <p:cNvSpPr/>
          <p:nvPr/>
        </p:nvSpPr>
        <p:spPr>
          <a:xfrm>
            <a:off x="6903720" y="3252817"/>
            <a:ext cx="2011680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Ngừng dịch vụ, suy giảm hiệu năng và gián đoạn mạng.</a:t>
            </a:r>
            <a:endParaRPr lang="en-US" sz="1440" dirty="0"/>
          </a:p>
        </p:txBody>
      </p:sp>
      <p:sp>
        <p:nvSpPr>
          <p:cNvPr id="16" name="Shape 13"/>
          <p:cNvSpPr/>
          <p:nvPr/>
        </p:nvSpPr>
        <p:spPr>
          <a:xfrm>
            <a:off x="1156394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7" name="Shape 14"/>
          <p:cNvSpPr/>
          <p:nvPr/>
        </p:nvSpPr>
        <p:spPr>
          <a:xfrm>
            <a:off x="3206058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8" name="Shape 15"/>
          <p:cNvSpPr/>
          <p:nvPr/>
        </p:nvSpPr>
        <p:spPr>
          <a:xfrm>
            <a:off x="5255721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9" name="Shape 16"/>
          <p:cNvSpPr/>
          <p:nvPr/>
        </p:nvSpPr>
        <p:spPr>
          <a:xfrm>
            <a:off x="7305385" y="1843127"/>
            <a:ext cx="682221" cy="682221"/>
          </a:xfrm>
          <a:custGeom>
            <a:avLst/>
            <a:gdLst/>
            <a:ahLst/>
            <a:cxnLst/>
            <a:rect l="l" t="t" r="r" b="b"/>
            <a:pathLst>
              <a:path w="682221" h="682221">
                <a:moveTo>
                  <a:pt x="341111" y="0"/>
                </a:moveTo>
                <a:moveTo>
                  <a:pt x="341111" y="0"/>
                </a:moveTo>
                <a:cubicBezTo>
                  <a:pt x="529375" y="0"/>
                  <a:pt x="682221" y="152847"/>
                  <a:pt x="682221" y="341111"/>
                </a:cubicBezTo>
                <a:cubicBezTo>
                  <a:pt x="682221" y="529375"/>
                  <a:pt x="529375" y="682221"/>
                  <a:pt x="341111" y="682221"/>
                </a:cubicBezTo>
                <a:cubicBezTo>
                  <a:pt x="152847" y="682221"/>
                  <a:pt x="0" y="529375"/>
                  <a:pt x="0" y="341111"/>
                </a:cubicBezTo>
                <a:cubicBezTo>
                  <a:pt x="0" y="152847"/>
                  <a:pt x="152847" y="0"/>
                  <a:pt x="341111" y="0"/>
                </a:cubicBezTo>
                <a:close/>
              </a:path>
            </a:pathLst>
          </a:custGeom>
          <a:solidFill>
            <a:srgbClr val="819063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8894" y="2006636"/>
            <a:ext cx="355202" cy="355202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200" y="2037934"/>
            <a:ext cx="292608" cy="292608"/>
          </a:xfrm>
          <a:prstGeom prst="rect">
            <a:avLst/>
          </a:prstGeom>
        </p:spPr>
      </p:pic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008" y="2047078"/>
            <a:ext cx="274320" cy="27432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1092" y="1983070"/>
            <a:ext cx="411480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2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App Layer</a:t></a:r><a:endParaRPr lang="en-US" sz="1440" dirty="0"/></a:p></p:txBody></p:sp><p:sp><p:nvSpPr><p:cNvPr id="3" name="Shape 1"></p:cNvPr><p:cNvSpPr/><p:nvPr></p:nvPr></p:nvSpPr><p:spPr><a:xfrm><a:off x="258837" y="948010"/><a:ext cx="4283050" cy="1862633"/></a:xfrm><a:custGeom><a:avLst /><a:gdLst></a:gdLst><a:ahLst /><a:cxnLst></a:cxnLst><a:rect l="l" t="t" r="r" b="b" /><a:pathLst><a:path w="4283050" h="1862633"><a:moveTo><a:pt x="176267" y="0" /></a:moveTo><a:moveTo><a:pt x="176267" y="0" /></a:moveTo><a:lnTo><a:pt x="4106782" y="0" /></a:lnTo><a:quadBezTo>
									<a:pt x="4283050" y="0" />
									<a:pt x="4283050" y="176267" />
									</a:quadBezTo><a:lnTo><a:pt x="4283050" y="1686366" /></a:lnTo><a:quadBezTo>
									<a:pt x="4283050" y="1862633" />
									<a:pt x="4106782" y="1862633" />
									</a:quadBezTo><a:lnTo><a:pt x="176267" y="1862633" /></a:lnTo><a:quadBezTo>
									<a:pt x="0" y="1862633" />
									<a:pt x="0" y="1686366" />
									</a:quadBezTo><a:lnTo><a:pt x="0" y="176267" /></a:lnTo><a:quadBezTo>
									<a:pt x="0" y="0" />
									<a:pt x="176267" y="0" />
									</a:quadBezTo><a:close /></a:path></a:pathLst></a:custGeom><a:solidFill><a:srgbClr val="819063"><a:alpha val="0"/></a:srgbClr></a:solidFill><a:ln w="9525"><a:solidFill><a:srgbClr val="819063"/></a:solidFill><a:prstDash val="solid"/></a:ln></p:spPr></p:sp><p:sp><p:nvSpPr><p:cNvPr id="4" name="Shape 2"></p:cNvPr><p:cNvSpPr/><p:nvPr></p:nvPr></p:nvSpPr><p:spPr><a:xfrm><a:off x="4597014" y="948233"/><a:ext cx="4283050" cy="1862633"/></a:xfrm><a:custGeom><a:avLst /><a:gdLst></a:gdLst><a:ahLst /><a:cxnLst></a:cxnLst><a:rect l="l" t="t" r="r" b="b" /><a:pathLst><a:path w="4283050" h="1862633"><a:moveTo><a:pt x="176267" y="0" /></a:moveTo><a:moveTo><a:pt x="176267" y="0" /></a:moveTo><a:lnTo><a:pt x="4106782" y="0" /></a:lnTo><a:quadBezTo>
									<a:pt x="4283050" y="0" />
									<a:pt x="4283050" y="176267" />
									</a:quadBezTo><a:lnTo><a:pt x="4283050" y="1686366" /></a:lnTo><a:quadBezTo>
									<a:pt x="4283050" y="1862633" />
									<a:pt x="4106782" y="1862633" />
									</a:quadBezTo><a:lnTo><a:pt x="176267" y="1862633" /></a:lnTo><a:quadBezTo>
									<a:pt x="0" y="1862633" />
									<a:pt x="0" y="1686366" />
									</a:quadBezTo><a:lnTo><a:pt x="0" y="176267" /></a:lnTo><a:quadBezTo>
									<a:pt x="0" y="0" />
									<a:pt x="176267" y="0" />
									</a:quadBezTo><a:close /></a:path></a:pathLst></a:custGeom><a:solidFill><a:srgbClr val="819063"><a:alpha val="0"/></a:srgbClr></a:solidFill><a:ln w="9525"><a:solidFill><a:srgbClr val="819063"/></a:solidFill><a:prstDash val="solid"/></a:ln></p:spPr></p:sp><p:sp><p:nvSpPr><p:cNvPr id="5" name="Shape 3"></p:cNvPr><p:cNvSpPr/><p:nvPr></p:nvPr></p:nvSpPr><p:spPr><a:xfrm><a:off x="4596751" y="2910535"/><a:ext cx="4283050" cy="1862633"/></a:xfrm><a:custGeom><a:avLst /><a:gdLst></a:gdLst><a:ahLst /><a:cxnLst></a:cxnLst><a:rect l="l" t="t" r="r" b="b" /><a:pathLst><a:path w="4283050" h="1862633"><a:moveTo><a:pt x="176267" y="0" /></a:moveTo><a:moveTo><a:pt x="176267" y="0" /></a:moveTo><a:lnTo><a:pt x="4106782" y="0" /></a:lnTo><a:quadBezTo>
									<a:pt x="4283050" y="0" />
									<a:pt x="4283050" y="176267" />
									</a:quadBezTo><a:lnTo><a:pt x="4283050" y="1686366" /></a:lnTo><a:quadBezTo>
									<a:pt x="4283050" y="1862633" />
									<a:pt x="4106782" y="1862633" />
									</a:quadBezTo><a:lnTo><a:pt x="176267" y="1862633" /></a:lnTo><a:quadBezTo>
									<a:pt x="0" y="1862633" />
									<a:pt x="0" y="1686366" />
									</a:quadBezTo><a:lnTo><a:pt x="0" y="176267" /></a:lnTo><a:quadBezTo>
									<a:pt x="0" y="0" />
									<a:pt x="176267" y="0" />
									</a:quadBezTo><a:close /></a:path></a:pathLst></a:custGeom><a:solidFill><a:srgbClr val="819063"><a:alpha val="0"/></a:srgbClr></a:solidFill><a:ln w="9525"><a:solidFill><a:srgbClr val="819063"/></a:solidFill><a:prstDash val="solid"/></a:ln></p:spPr></p:sp><p:sp><p:nvSpPr><p:cNvPr id="6" name="Shape 4"></p:cNvPr><p:cNvSpPr/><p:nvPr></p:nvPr></p:nvSpPr><p:spPr><a:xfrm><a:off x="258777" y="2910531"/><a:ext cx="4282861" cy="1862800"/></a:xfrm><a:custGeom><a:avLst /><a:gdLst></a:gdLst><a:ahLst /><a:cxnLst></a:cxnLst><a:rect l="l" t="t" r="r" b="b" /><a:pathLst><a:path w="4282861" h="1862800"><a:moveTo><a:pt x="166608" y="0" /></a:moveTo><a:moveTo><a:pt x="166608" y="0" /></a:moveTo><a:lnTo><a:pt x="4116253" y="0" /></a:lnTo><a:quadBezTo>
									<a:pt x="4282861" y="0" />
									<a:pt x="4282861" y="176283" />
									</a:quadBezTo><a:lnTo><a:pt x="4282861" y="1686517" /></a:lnTo><a:quadBezTo>
									<a:pt x="4282861" y="1862800" />
									<a:pt x="4116253" y="1862800" />
									</a:quadBezTo><a:lnTo><a:pt x="166608" y="1862800" /></a:lnTo><a:quadBezTo>
									<a:pt x="0" y="1862800" />
									<a:pt x="0" y="1686517" />
									</a:quadBezTo><a:lnTo><a:pt x="0" y="176283" /></a:lnTo><a:quadBezTo>
									<a:pt x="0" y="0" />
									<a:pt x="166608" y="0" />
									</a:quadBezTo><a:close /></a:path></a:pathLst></a:custGeom><a:solidFill><a:srgbClr val="819063"><a:alpha val="0"/></a:srgbClr></a:solidFill><a:ln w="9525"><a:solidFill><a:srgbClr val="819063"/></a:solidFill><a:prstDash val="solid"/></a:ln></p:spPr></p:sp><p:pic>  <p:nvPicPr><p:cNvPr id="7" name="Image 0" descr="preencoded.png">    </p:cNvPr>    <p:cNvPicPr><a:picLocks noChangeAspect="1"/></p:cNvPicPr>    <p:nvPr></p:nvPr>  </p:nvPicPr><p:blipFill><a:blip r:embed="rId2"></a:blip>  <a:stretch><a:fillRect/></a:stretch></p:blipFill><p:spPr> <a:xfrm>  <a:off x="4120852" y="2397516"/>  <a:ext cx="420786" cy="420786"/> </a:xfrm> <a:prstGeom prst="rect"><a:avLst/></a:prstGeom></p:spPr></p:pic><p:pic>  <p:nvPicPr><p:cNvPr id="8" name="Image 1" descr="preencoded.png">    </p:cNvPr>    <p:cNvPicPr><a:picLocks noChangeAspect="1"/></p:cNvPicPr>    <p:nvPr></p:nvPr>  </p:nvPicPr><p:blipFill><a:blip r:embed="rId3"></a:blip>  <a:stretch><a:fillRect/></a:stretch></p:blipFill><p:spPr> <a:xfrm rot="-5400000">  <a:off x="4120852" y="2901924"/>  <a:ext cx="420786" cy="420786"/> </a:xfrm> <a:prstGeom prst="rect"><a:avLst/></a:prstGeom></p:spPr></p:pic><p:pic>  <p:nvPicPr><p:cNvPr id="9" name="Image 2" descr="preencoded.png">    </p:cNvPr>    <p:cNvPicPr><a:picLocks noChangeAspect="1"/></p:cNvPicPr>    <p:nvPr></p:nvPr>  </p:nvPicPr><p:blipFill><a:blip r:embed="rId4"></a:blip>  <a:stretch><a:fillRect/></a:stretch></p:blipFill><p:spPr> <a:xfrm rot="5400000">  <a:off x="4597014" y="2397516"/>  <a:ext cx="420786" cy="420786"/> </a:xfrm> <a:prstGeom prst="rect"><a:avLst/></a:prstGeom></p:spPr></p:pic><p:pic>  <p:nvPicPr><p:cNvPr id="10" name="Image 3" descr="preencoded.png">    </p:cNvPr>    <p:cNvPicPr><a:picLocks noChangeAspect="1"/></p:cNvPicPr>    <p:nvPr></p:nvPr>  </p:nvPicPr><p:blipFill><a:blip r:embed="rId5"></a:blip>  <a:stretch><a:fillRect/></a:stretch></p:blipFill><p:spPr> <a:xfrm rot="-10800000">  <a:off x="4597014" y="2901924"/>  <a:ext cx="420786" cy="420786"/> </a:xfrm> <a:prstGeom prst="rect"><a:avLst/></a:prstGeom></p:spPr></p:pic><p:sp><p:nvSpPr><p:cNvPr id="11" name="Shape 5"></p:cNvPr><p:cNvSpPr/><p:nvPr></p:nvPr></p:nvSpPr><p:spPr><a:xfrm><a:off x="383892" y="1051608"/><a:ext cx="4005207" cy="525983"/></a:xfrm><a:custGeom><a:avLst /><a:gdLst></a:gdLst><a:ahLst /><a:cxnLst></a:cxnLst><a:rect l="l" t="t" r="r" b="b" /><a:pathLst><a:path w="4005207" h="525983"><a:moveTo><a:pt x="130084" y="0" /></a:moveTo><a:moveTo><a:pt x="130084" y="0" /></a:moveTo><a:lnTo><a:pt x="3875122" y="0" /></a:lnTo><a:quadBezTo>
									<a:pt x="4005207" y="0" />
									<a:pt x="4005207" y="130084" />
									</a:quadBezTo><a:lnTo><a:pt x="4005207" y="395898" /></a:lnTo><a:quadBezTo>
									<a:pt x="4005207" y="525983" />
									<a:pt x="3875122" y="525983" />
									</a:quadBezTo><a:lnTo><a:pt x="130084" y="525983" /></a:lnTo><a:quadBezTo>
									<a:pt x="0" y="525983" />
									<a:pt x="0" y="395898" />
									</a:quadBezTo><a:lnTo><a:pt x="0" y="130084" /></a:lnTo><a:quadBezTo>
									<a:pt x="0" y="0" />
									<a:pt x="130084" y="0" />
									</a:quadBezTo><a:close /></a:path></a:pathLst></a:custGeom><a:solidFill><a:srgbClr val="819063"/></a:solidFill><a:ln></a:ln></p:spPr></p:sp><p:sp><p:nvSpPr><p:cNvPr id="12" name="Text 6"></p:cNvPr><p:cNvSpPr/><p:nvPr></p:nvPr></p:nvSpPr><p:spPr><a:xfrm><a:off x="383892" y="1583700"/><a:ext cx="4005207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Tấn công nhắm vào HTTP/ứng dụng để làm chậm hoặc sập dịch vụ.</a:t></a:r><a:endParaRPr lang="en-US" sz="1440" dirty="0"/></a:p></p:txBody></p:sp><p:sp><p:nvSpPr><p:cNvPr id="13" name="Text 7"></p:cNvPr><p:cNvSpPr/><p:nvPr></p:nvPr></p:nvSpPr><p:spPr><a:xfrm><a:off x="4735935" y="1583700"/><a:ext cx="4005207" cy="60350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HTTP flood, khai thác lỗ hổng ứng dụng, request hợp lệ áp tải tài nguyên.</a:t></a:r><a:endParaRPr lang="en-US" sz="1440" dirty="0"/></a:p></p:txBody></p:sp><p:sp><p:nvSpPr><p:cNvPr id="14" name="Text 8"></p:cNvPr><p:cNvSpPr/><p:nvPr></p:nvPr></p:nvSpPr><p:spPr><a:xfrm><a:off x="383892" y="3322710"/><a:ext cx="4005207" cy="813816"/></a:xfrm><a:prstGeom prst="rect"><a:avLst></a:avLst></a:prstGeom><a:noFill/><a:ln></a:ln></p:spPr><p:txBody><a:bodyPr wrap="square" lIns="95250" tIns="95250" rIns="95250" bIns="95250" rtlCol="0" anchor="b"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HULK, LOIC, HOIC, Pandora gây HTTP flood và yêu cầu độc đáo.</a:t></a:r><a:endParaRPr lang="en-US" sz="1440" dirty="0"/></a:p></p:txBody></p:sp><p:sp><p:nvSpPr><p:cNvPr id="15" name="Text 9"></p:cNvPr><p:cNvSpPr/><p:nvPr></p:nvPr></p:nvSpPr><p:spPr><a:xfrm><a:off x="4807407" y="3322710"/><a:ext cx="3933735" cy="813816"/></a:xfrm><a:prstGeom prst="rect"><a:avLst></a:avLst></a:prstGeom><a:noFill/><a:ln></a:ln></p:spPr><p:txBody><a:bodyPr wrap="square" lIns="95250" tIns="95250" rIns="95250" bIns="95250" rtlCol="0" anchor="b"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Tăng requests hợp lệ, tăng latency, bất thường trong hồ sơ hoạt động.</a:t></a:r><a:endParaRPr lang="en-US" sz="1440" dirty="0"/></a:p></p:txBody></p:sp><p:sp><p:nvSpPr><p:cNvPr id="16" name="Text 10"></p:cNvPr><p:cNvSpPr/><p:nvPr></p:nvPr></p:nvSpPr><p:spPr><a:xfrm><a:off x="455826" y="1118003"/><a:ext cx="3862076" cy="393192"/></a:xfrm><a:prstGeom prst="rect"><a:avLst></a:avLst></a:prstGeom><a:noFill/><a:ln></a:ln></p:spPr><p:txBody><a:bodyPr wrap="square" lIns="95250" tIns="95250" rIns="95250" bIns="95250" rtlCol="0" anchor="ctr"></a:bodyPr><a:lstStyle/><a:p><a:pPr indent="0" marL="0"><a:lnSpc><a:spcPct val="100000"/></a:lnSpc><a:spcBef><a:spcPts val="375"/></a:spcBef><a:buNone/></a:pPr><a:r><a:rPr lang="en-US" sz="1296" b="1" dirty="0"><a:solidFill><a:srgbClr val="FFFFFF"/></a:solidFill><a:latin typeface="Noto Sans" pitchFamily="34" charset="0"/><a:ea typeface="Noto Sans" pitchFamily="34" charset="-122"/><a:cs typeface="Noto Sans" pitchFamily="34" charset="-120"/></a:rPr><a:t>Định nghĩa lớp ứng dụng</a:t></a:r><a:endParaRPr lang="en-US" sz="1440" dirty="0"/></a:p></p:txBody></p:sp><p:sp><p:nvSpPr><p:cNvPr id="17" name="Shape 11"></p:cNvPr><p:cNvSpPr/><p:nvPr></p:nvPr></p:nvSpPr><p:spPr><a:xfrm><a:off x="4735935" y="1051608"/><a:ext cx="4005207" cy="525983"/></a:xfrm><a:custGeom><a:avLst /><a:gdLst></a:gdLst><a:ahLst /><a:cxnLst></a:cxnLst><a:rect l="l" t="t" r="r" b="b" /><a:pathLst><a:path w="4005207" h="525983"><a:moveTo><a:pt x="130084" y="0" /></a:moveTo><a:moveTo><a:pt x="130084" y="0" /></a:moveTo><a:lnTo><a:pt x="3875122" y="0" /></a:lnTo><a:quadBezTo>
									<a:pt x="4005207" y="0" />
									<a:pt x="4005207" y="130084" />
									</a:quadBezTo><a:lnTo><a:pt x="4005207" y="395898" /></a:lnTo><a:quadBezTo>
									<a:pt x="4005207" y="525983" />
									<a:pt x="3875122" y="525983" />
									</a:quadBezTo><a:lnTo><a:pt x="130084" y="525983" /></a:lnTo><a:quadBezTo>
									<a:pt x="0" y="525983" />
									<a:pt x="0" y="395898" />
									</a:quadBezTo><a:lnTo><a:pt x="0" y="130084" /></a:lnTo><a:quadBezTo>
									<a:pt x="0" y="0" />
									<a:pt x="130084" y="0" />
									</a:quadBezTo><a:close /></a:path></a:pathLst></a:custGeom><a:solidFill><a:srgbClr val="819063"/></a:solidFill><a:ln></a:ln></p:spPr></p:sp><p:sp><p:nvSpPr><p:cNvPr id="18" name="Text 12"></p:cNvPr><p:cNvSpPr/><p:nvPr></p:nvPr></p:nvSpPr><p:spPr><a:xfrm><a:off x="4807407" y="1118003"/><a:ext cx="3882523" cy="393192"/></a:xfrm><a:prstGeom prst="rect"><a:avLst></a:avLst></a:prstGeom><a:noFill/><a:ln></a:ln></p:spPr><p:txBody><a:bodyPr wrap="square" lIns="95250" tIns="95250" rIns="95250" bIns="95250" rtlCol="0" anchor="ctr"></a:bodyPr><a:lstStyle/><a:p><a:pPr indent="0" marL="0"><a:lnSpc><a:spcPct val="100000"/></a:lnSpc><a:spcBef><a:spcPts val="375"/></a:spcBef><a:buNone/></a:pPr><a:r><a:rPr lang="en-US" sz="1296" b="1" dirty="0"><a:solidFill><a:srgbClr val="FFFFFF"/></a:solidFill><a:latin typeface="Noto Sans" pitchFamily="34" charset="0"/><a:ea typeface="Noto Sans" pitchFamily="34" charset="-122"/><a:cs typeface="Noto Sans" pitchFamily="34" charset="-120"/></a:rPr><a:t>Kỹ thuật phổ biến</a:t></a:r><a:endParaRPr lang="en-US" sz="1440" dirty="0"/></a:p></p:txBody></p:sp><p:sp><p:nvSpPr><p:cNvPr id="19" name="Shape 13"></p:cNvPr><p:cNvSpPr/><p:nvPr></p:nvPr></p:nvSpPr><p:spPr><a:xfrm><a:off x="383892" y="4130667"/><a:ext cx="4005207" cy="525983"/></a:xfrm><a:custGeom><a:avLst /><a:gdLst></a:gdLst><a:ahLst /><a:cxnLst></a:cxnLst><a:rect l="l" t="t" r="r" b="b" /><a:pathLst><a:path w="4005207" h="525983"><a:moveTo><a:pt x="130084" y="0" /></a:moveTo><a:moveTo><a:pt x="130084" y="0" /></a:moveTo><a:lnTo><a:pt x="3875122" y="0" /></a:lnTo><a:quadBezTo>
									<a:pt x="4005207" y="0" />
									<a:pt x="4005207" y="130084" />
									</a:quadBezTo><a:lnTo><a:pt x="4005207" y="395898" /></a:lnTo><a:quadBezTo>
									<a:pt x="4005207" y="525983" />
									<a:pt x="3875122" y="525983" />
									</a:quadBezTo><a:lnTo><a:pt x="130084" y="525983" /></a:lnTo><a:quadBezTo>
									<a:pt x="0" y="525983" />
									<a:pt x="0" y="395898" />
									</a:quadBezTo><a:lnTo><a:pt x="0" y="130084" /></a:lnTo><a:quadBezTo>
									<a:pt x="0" y="0" />
									<a:pt x="130084" y="0" />
									</a:quadBezTo><a:close /></a:path></a:pathLst></a:custGeom><a:solidFill><a:srgbClr val="819063"/></a:solidFill><a:ln></a:ln></p:spPr></p:sp><p:sp><p:nvSpPr><p:cNvPr id="20" name="Text 14"></p:cNvPr><p:cNvSpPr/><p:nvPr></p:nvPr></p:nvSpPr><p:spPr><a:xfrm><a:off x="455826" y="4197062"/><a:ext cx="3862076" cy="393192"/></a:xfrm><a:prstGeom prst="rect"><a:avLst></a:avLst></a:prstGeom><a:noFill/><a:ln></a:ln></p:spPr><p:txBody><a:bodyPr wrap="square" lIns="95250" tIns="95250" rIns="95250" bIns="95250" rtlCol="0" anchor="ctr"></a:bodyPr><a:lstStyle/><a:p><a:pPr indent="0" marL="0"><a:lnSpc><a:spcPct val="1000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Công cụ tấn công</a:t></a:r><a:endParaRPr lang="en-US" sz="1440" dirty="0"/></a:p></p:txBody></p:sp><p:sp><p:nvSpPr><p:cNvPr id="21" name="Shape 15"></p:cNvPr><p:cNvSpPr/><p:nvPr></p:nvPr></p:nvSpPr><p:spPr><a:xfrm><a:off x="4735935" y="4130667"/><a:ext cx="4005207" cy="525983"/></a:xfrm><a:custGeom><a:avLst /><a:gdLst></a:gdLst><a:ahLst /><a:cxnLst></a:cxnLst><a:rect l="l" t="t" r="r" b="b" /><a:pathLst><a:path w="4005207" h="525983"><a:moveTo><a:pt x="130084" y="0" /></a:moveTo><a:moveTo><a:pt x="130084" y="0" /></a:moveTo><a:lnTo><a:pt x="3875122" y="0" /></a:lnTo><a:quadBezTo>
									<a:pt x="4005207" y="0" />
									<a:pt x="4005207" y="130084" />
									</a:quadBezTo><a:lnTo><a:pt x="4005207" y="395898" /></a:lnTo><a:quadBezTo>
									<a:pt x="4005207" y="525983" />
									<a:pt x="3875122" y="525983" />
									</a:quadBezTo><a:lnTo><a:pt x="130084" y="525983" /></a:lnTo><a:quadBezTo>
									<a:pt x="0" y="525983" />
									<a:pt x="0" y="395898" />
									</a:quadBezTo><a:lnTo><a:pt x="0" y="130084" /></a:lnTo><a:quadBezTo>
									<a:pt x="0" y="0" />
									<a:pt x="130084" y="0" />
									</a:quadBezTo><a:close /></a:path></a:pathLst></a:custGeom><a:solidFill><a:srgbClr val="819063"/></a:solidFill><a:ln></a:ln></p:spPr></p:sp><p:sp><p:nvSpPr><p:cNvPr id="22" name="Text 16"></p:cNvPr><p:cNvSpPr/><p:nvPr></p:nvPr></p:nvSpPr><p:spPr><a:xfrm><a:off x="4807407" y="4197062"/><a:ext cx="3882523" cy="393192"/></a:xfrm><a:prstGeom prst="rect"><a:avLst></a:avLst></a:prstGeom><a:noFill/><a:ln></a:ln></p:spPr><p:txBody><a:bodyPr wrap="square" lIns="95250" tIns="95250" rIns="95250" bIns="95250" rtlCol="0" anchor="ctr"></a:bodyPr><a:lstStyle/><a:p><a:pPr indent="0" marL="0"><a:lnSpc><a:spcPct val="1000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Dấu hiệu phát hiện</a:t></a:r><a:endParaRPr lang="en-US" sz="1440" dirty="0"/></a:p></p:txBody></p:sp></p:spTree></p:cSld><p:clrMapOvr><a:masterClrMapping/></p:clrMapOvr>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Botnet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31928" y="999968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819063">
              <a:alpha val="9020"/>
            </a:srgbClr>
          </a:solidFill>
          <a:ln w="9525">
            <a:solidFill>
              <a:srgbClr val="819063">
                <a:alpha val="43137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731" y="1152829"/>
            <a:ext cx="1990685" cy="53295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11248" y="1060395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19063"/>
            </a:solidFill>
            <a:prstDash val="solid"/>
            <a:headEnd type="none"/>
            <a:tailEnd type="arrow"/>
          </a:ln>
        </p:spPr>
      </p:sp>
      <p:sp>
        <p:nvSpPr>
          <p:cNvPr id="6" name="Shape 3"/>
          <p:cNvSpPr/>
          <p:nvPr/>
        </p:nvSpPr>
        <p:spPr>
          <a:xfrm>
            <a:off x="619036" y="1838647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819063"/>
            </a:solidFill>
            <a:prstDash val="solid"/>
            <a:headEnd type="none"/>
            <a:tailEnd type="none"/>
          </a:ln>
        </p:spPr>
      </p:sp>
      <p:sp>
        <p:nvSpPr>
          <p:cNvPr id="7" name="Text 4"/>
          <p:cNvSpPr/>
          <p:nvPr/>
        </p:nvSpPr>
        <p:spPr>
          <a:xfrm>
            <a:off x="7668574" y="990824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8" name="Shape 5"/>
          <p:cNvSpPr/>
          <p:nvPr/>
        </p:nvSpPr>
        <p:spPr>
          <a:xfrm>
            <a:off x="407227" y="1930712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819063">
              <a:alpha val="9020"/>
            </a:srgbClr>
          </a:solidFill>
          <a:ln w="9525">
            <a:solidFill>
              <a:srgbClr val="819063">
                <a:alpha val="43137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030" y="2083573"/>
            <a:ext cx="1990685" cy="532957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86547" y="1991139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759063"/>
            </a:solidFill>
            <a:prstDash val="solid"/>
            <a:headEnd type="none"/>
            <a:tailEnd type="arrow"/>
          </a:ln>
        </p:spPr>
      </p:sp>
      <p:sp>
        <p:nvSpPr>
          <p:cNvPr id="11" name="Shape 7"/>
          <p:cNvSpPr/>
          <p:nvPr/>
        </p:nvSpPr>
        <p:spPr>
          <a:xfrm>
            <a:off x="594335" y="27693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759063"/>
            </a:solidFill>
            <a:prstDash val="solid"/>
            <a:headEnd type="none"/>
            <a:tailEnd type="none"/>
          </a:ln>
        </p:spPr>
      </p:sp>
      <p:sp>
        <p:nvSpPr>
          <p:cNvPr id="12" name="Text 8"/>
          <p:cNvSpPr/>
          <p:nvPr/>
        </p:nvSpPr>
        <p:spPr>
          <a:xfrm>
            <a:off x="7643873" y="1921568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3" name="Shape 9"/>
          <p:cNvSpPr/>
          <p:nvPr/>
        </p:nvSpPr>
        <p:spPr>
          <a:xfrm>
            <a:off x="407227" y="2850413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819063">
              <a:alpha val="9020"/>
            </a:srgbClr>
          </a:solidFill>
          <a:ln w="9525">
            <a:solidFill>
              <a:srgbClr val="819063">
                <a:alpha val="43137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7030" y="3003274"/>
            <a:ext cx="1990685" cy="532957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286547" y="2910840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819063"/>
            </a:solidFill>
            <a:prstDash val="solid"/>
            <a:headEnd type="none"/>
            <a:tailEnd type="arrow"/>
          </a:ln>
        </p:spPr>
      </p:sp>
      <p:sp>
        <p:nvSpPr>
          <p:cNvPr id="16" name="Shape 11"/>
          <p:cNvSpPr/>
          <p:nvPr/>
        </p:nvSpPr>
        <p:spPr>
          <a:xfrm>
            <a:off x="594335" y="3689092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819063"/>
            </a:solidFill>
            <a:prstDash val="solid"/>
            <a:headEnd type="none"/>
            <a:tailEnd type="none"/>
          </a:ln>
        </p:spPr>
      </p:sp>
      <p:sp>
        <p:nvSpPr>
          <p:cNvPr id="17" name="Text 12"/>
          <p:cNvSpPr/>
          <p:nvPr/>
        </p:nvSpPr>
        <p:spPr>
          <a:xfrm>
            <a:off x="7643873" y="2841269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8" name="Shape 13"/>
          <p:cNvSpPr/>
          <p:nvPr/>
        </p:nvSpPr>
        <p:spPr>
          <a:xfrm>
            <a:off x="382526" y="3778065"/>
            <a:ext cx="8372553" cy="838679"/>
          </a:xfrm>
          <a:custGeom>
            <a:avLst/>
            <a:gdLst/>
            <a:ahLst/>
            <a:cxnLst/>
            <a:rect l="l" t="t" r="r" b="b"/>
            <a:pathLst>
              <a:path w="8372553" h="838679">
                <a:moveTo>
                  <a:pt x="104835" y="0"/>
                </a:moveTo>
                <a:moveTo>
                  <a:pt x="104835" y="0"/>
                </a:moveTo>
                <a:lnTo>
                  <a:pt x="8267718" y="0"/>
                </a:lnTo>
                <a:quadBezTo>
                  <a:pt x="8372553" y="0"/>
                  <a:pt x="8372553" y="104835"/>
                </a:quadBezTo>
                <a:lnTo>
                  <a:pt x="8372553" y="733844"/>
                </a:lnTo>
                <a:quadBezTo>
                  <a:pt x="8372553" y="838679"/>
                  <a:pt x="8267718" y="838679"/>
                </a:quadBezTo>
                <a:lnTo>
                  <a:pt x="104835" y="838679"/>
                </a:lnTo>
                <a:quadBezTo>
                  <a:pt x="0" y="838679"/>
                  <a:pt x="0" y="733844"/>
                </a:quadBezTo>
                <a:lnTo>
                  <a:pt x="0" y="104835"/>
                </a:lnTo>
                <a:quadBezTo>
                  <a:pt x="0" y="0"/>
                  <a:pt x="104835" y="0"/>
                </a:quadBezTo>
                <a:close/>
              </a:path>
            </a:pathLst>
          </a:custGeom>
          <a:solidFill>
            <a:srgbClr val="819063">
              <a:alpha val="9020"/>
            </a:srgbClr>
          </a:solidFill>
          <a:ln w="9525">
            <a:solidFill>
              <a:srgbClr val="819063">
                <a:alpha val="43137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329" y="3930926"/>
            <a:ext cx="1990685" cy="53295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261846" y="3838492"/>
            <a:ext cx="0" cy="695739"/>
          </a:xfrm>
          <a:custGeom>
            <a:avLst/>
            <a:gdLst/>
            <a:ahLst/>
            <a:cxnLst/>
            <a:rect l="l" t="t" r="r" b="b"/>
            <a:pathLst>
              <a:path w="0" h="695739">
                <a:moveTo>
                  <a:pt x="0" y="695739"/>
                </a:moveTo>
                <a:moveTo>
                  <a:pt x="0" y="695739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759063"/>
            </a:solidFill>
            <a:prstDash val="solid"/>
            <a:headEnd type="none"/>
            <a:tailEnd type="arrow"/>
          </a:ln>
        </p:spPr>
      </p:sp>
      <p:sp>
        <p:nvSpPr>
          <p:cNvPr id="21" name="Shape 15"/>
          <p:cNvSpPr/>
          <p:nvPr/>
        </p:nvSpPr>
        <p:spPr>
          <a:xfrm>
            <a:off x="569634" y="4616745"/>
            <a:ext cx="1866348" cy="0"/>
          </a:xfrm>
          <a:custGeom>
            <a:avLst/>
            <a:gdLst/>
            <a:ahLst/>
            <a:cxnLst/>
            <a:rect l="l" t="t" r="r" b="b"/>
            <a:pathLst>
              <a:path w="1866348" h="0">
                <a:moveTo>
                  <a:pt x="0" y="0"/>
                </a:moveTo>
                <a:moveTo>
                  <a:pt x="0" y="0"/>
                </a:moveTo>
                <a:lnTo>
                  <a:pt x="1866348" y="0"/>
                </a:lnTo>
              </a:path>
            </a:pathLst>
          </a:custGeom>
          <a:noFill/>
          <a:ln w="76200">
            <a:solidFill>
              <a:srgbClr val="759063"/>
            </a:solidFill>
            <a:prstDash val="solid"/>
            <a:headEnd type="none"/>
            <a:tailEnd type="none"/>
          </a:ln>
        </p:spPr>
      </p:sp>
      <p:sp>
        <p:nvSpPr>
          <p:cNvPr id="22" name="Text 16"/>
          <p:cNvSpPr/>
          <p:nvPr/>
        </p:nvSpPr>
        <p:spPr>
          <a:xfrm>
            <a:off x="7619172" y="3768921"/>
            <a:ext cx="1305989" cy="8503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00800"/>
              </a:lnSpc>
              <a:spcBef>
                <a:spcPts val="375"/>
              </a:spcBef>
              <a:buNone/>
            </a:pPr>
            <a:r>
              <a:rPr lang="en-US" sz="3744" b="1" i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23" name="Text 17"/>
          <p:cNvSpPr/>
          <p:nvPr/>
        </p:nvSpPr>
        <p:spPr>
          <a:xfrm>
            <a:off x="541731" y="1152829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Định nghĩa Botnet</a:t>
            </a:r>
            <a:endParaRPr lang="en-US" sz="1440" dirty="0"/>
          </a:p>
        </p:txBody>
      </p:sp>
      <p:sp>
        <p:nvSpPr>
          <p:cNvPr id="24" name="Text 18"/>
          <p:cNvSpPr/>
          <p:nvPr/>
        </p:nvSpPr>
        <p:spPr>
          <a:xfrm>
            <a:off x="2576224" y="1117556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Mạng máy bị xâm nhập, điều khiển từ xa để thực hiện tấn công DDoS.</a:t>
            </a:r>
            <a:endParaRPr lang="en-US" sz="1440" dirty="0"/>
          </a:p>
        </p:txBody>
      </p:sp>
      <p:sp>
        <p:nvSpPr>
          <p:cNvPr id="25" name="Text 19"/>
          <p:cNvSpPr/>
          <p:nvPr/>
        </p:nvSpPr>
        <p:spPr>
          <a:xfrm>
            <a:off x="517030" y="2083573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Chu trình hoạt động</a:t>
            </a:r>
            <a:endParaRPr lang="en-US" sz="1440" dirty="0"/>
          </a:p>
        </p:txBody>
      </p:sp>
      <p:sp>
        <p:nvSpPr>
          <p:cNvPr id="26" name="Text 20"/>
          <p:cNvSpPr/>
          <p:nvPr/>
        </p:nvSpPr>
        <p:spPr>
          <a:xfrm>
            <a:off x="2551523" y="2048300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Lập C&amp;C, lây nhiễm, kết nối, nhận lệnh và tấn công mục tiêu.</a:t>
            </a:r>
            <a:endParaRPr lang="en-US" sz="1440" dirty="0"/>
          </a:p>
        </p:txBody>
      </p:sp>
      <p:sp>
        <p:nvSpPr>
          <p:cNvPr id="27" name="Text 21"/>
          <p:cNvSpPr/>
          <p:nvPr/>
        </p:nvSpPr>
        <p:spPr>
          <a:xfrm>
            <a:off x="517030" y="3003274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Cơ chế C&amp;C</a:t>
            </a:r>
            <a:endParaRPr lang="en-US" sz="1440" dirty="0"/>
          </a:p>
        </p:txBody>
      </p:sp>
      <p:sp>
        <p:nvSpPr>
          <p:cNvPr id="28" name="Text 22"/>
          <p:cNvSpPr/>
          <p:nvPr/>
        </p:nvSpPr>
        <p:spPr>
          <a:xfrm>
            <a:off x="2551523" y="2968001"/>
            <a:ext cx="5251478" cy="3931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Server điều khiển phát lệnh, bots chờ và thực thi tấn công.</a:t>
            </a:r>
            <a:endParaRPr lang="en-US" sz="1440" dirty="0"/>
          </a:p>
        </p:txBody>
      </p:sp>
      <p:sp>
        <p:nvSpPr>
          <p:cNvPr id="29" name="Text 23"/>
          <p:cNvSpPr/>
          <p:nvPr/>
        </p:nvSpPr>
        <p:spPr>
          <a:xfrm>
            <a:off x="492329" y="3930926"/>
            <a:ext cx="1990685" cy="532957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Vai trò trong DDoS</a:t>
            </a:r>
            <a:endParaRPr lang="en-US" sz="1440" dirty="0"/>
          </a:p>
        </p:txBody>
      </p:sp>
      <p:sp>
        <p:nvSpPr>
          <p:cNvPr id="30" name="Text 24"/>
          <p:cNvSpPr/>
          <p:nvPr/>
        </p:nvSpPr>
        <p:spPr>
          <a:xfrm>
            <a:off x="2526821" y="3895653"/>
            <a:ext cx="5251478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Tạo lưu lượng đồng loạt, che giấu nguồn và tăng quy mô tấn công.</a:t>
            </a:r>
            <a:endParaRPr lang="en-US" sz="1440" dirty="0"/>
          </a:p>
        </p:txBody>
      </p:sp>
    </p:spTree>
  </p:cSld>
  <p:clrMapOvr>
    <a:masterClrMapping/>
  </p:clrMapOvr>
</p:sld>
</file>

<file path=ppt/slides/slide14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4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C&amp;C</a:t></a:r><a:endParaRPr lang="en-US" sz="1440" dirty="0"/></a:p></p:txBody></p:sp><p:sp><p:nvSpPr><p:cNvPr id="3" name="Shape 1"></p:cNvPr><p:cNvSpPr/><p:nvPr></p:nvPr></p:nvSpPr><p:spPr><a:xfrm><a:off x="4854253" y="2957327"/><a:ext cx="4005154" cy="1859343"/></a:xfrm><a:custGeom><a:avLst /><a:gdLst></a:gdLst><a:ahLst /><a:cxnLst></a:cxnLst><a:rect l="l" t="t" r="r" b="b" /><a:pathLst><a:path w="4005154" h="1859343"><a:moveTo><a:pt x="232418" y="0" /></a:moveTo><a:moveTo><a:pt x="232418" y="0" /></a:moveTo><a:lnTo><a:pt x="3772736" y="0" /></a:lnTo><a:quadBezTo>
									<a:pt x="4005154" y="0" />
									<a:pt x="4005154" y="232418" />
									</a:quadBezTo><a:lnTo><a:pt x="4005154" y="1626925" /></a:lnTo><a:quadBezTo>
									<a:pt x="4005154" y="1859343" />
									<a:pt x="3772736" y="1859343" />
									</a:quadBezTo><a:lnTo><a:pt x="232418" y="1859343" /></a:lnTo><a:quadBezTo>
									<a:pt x="0" y="1859343" />
									<a:pt x="0" y="1626925" />
									</a:quadBezTo><a:lnTo><a:pt x="0" y="232418" /></a:lnTo><a:quadBezTo>
									<a:pt x="0" y="0" />
									<a:pt x="232418" y="0" />
									</a:quadBezTo><a:close /></a:path></a:pathLst></a:custGeom><a:solidFill><a:srgbClr val="819063"><a:alpha val="10000"/></a:srgbClr></a:solidFill><a:ln></a:ln></p:spPr></p:sp><p:sp><p:nvSpPr><p:cNvPr id="4" name="Shape 2"></p:cNvPr><p:cNvSpPr/><p:nvPr></p:nvPr></p:nvSpPr><p:spPr><a:xfrm><a:off x="4854253" y="911002"/><a:ext cx="4005154" cy="1867683"/></a:xfrm><a:custGeom><a:avLst /><a:gdLst></a:gdLst><a:ahLst /><a:cxnLst></a:cxnLst><a:rect l="l" t="t" r="r" b="b" /><a:pathLst><a:path w="4005154" h="1867683"><a:moveTo><a:pt x="233460" y="0" /></a:moveTo><a:moveTo><a:pt x="233460" y="0" /></a:moveTo><a:lnTo><a:pt x="3771693" y="0" /></a:lnTo><a:quadBezTo>
									<a:pt x="4005154" y="0" />
									<a:pt x="4005154" y="233460" />
									</a:quadBezTo><a:lnTo><a:pt x="4005154" y="1634223" /></a:lnTo><a:quadBezTo>
									<a:pt x="4005154" y="1867683" />
									<a:pt x="3771693" y="1867683" />
									</a:quadBezTo><a:lnTo><a:pt x="233460" y="1867683" /></a:lnTo><a:quadBezTo>
									<a:pt x="0" y="1867683" />
									<a:pt x="0" y="1634223" />
									</a:quadBezTo><a:lnTo><a:pt x="0" y="233460" /></a:lnTo><a:quadBezTo>
									<a:pt x="0" y="0" />
									<a:pt x="233460" y="0" />
									</a:quadBezTo><a:close /></a:path></a:pathLst></a:custGeom><a:solidFill><a:srgbClr val="819063"><a:alpha val="10000"/></a:srgbClr></a:solidFill><a:ln></a:ln></p:spPr></p:sp><p:sp><p:nvSpPr><p:cNvPr id="5" name="Shape 3"></p:cNvPr><p:cNvSpPr/><p:nvPr></p:nvPr></p:nvSpPr><p:spPr><a:xfrm><a:off x="504668" y="911002"/><a:ext cx="4005154" cy="1867683"/></a:xfrm><a:custGeom><a:avLst /><a:gdLst></a:gdLst><a:ahLst /><a:cxnLst></a:cxnLst><a:rect l="l" t="t" r="r" b="b" /><a:pathLst><a:path w="4005154" h="1867683"><a:moveTo><a:pt x="233460" y="0" /></a:moveTo><a:moveTo><a:pt x="233460" y="0" /></a:moveTo><a:lnTo><a:pt x="3771693" y="0" /></a:lnTo><a:quadBezTo>
									<a:pt x="4005154" y="0" />
									<a:pt x="4005154" y="233460" />
									</a:quadBezTo><a:lnTo><a:pt x="4005154" y="1634223" /></a:lnTo><a:quadBezTo>
									<a:pt x="4005154" y="1867683" />
									<a:pt x="3771693" y="1867683" />
									</a:quadBezTo><a:lnTo><a:pt x="233460" y="1867683" /></a:lnTo><a:quadBezTo>
									<a:pt x="0" y="1867683" />
									<a:pt x="0" y="1634223" />
									</a:quadBezTo><a:lnTo><a:pt x="0" y="233460" /></a:lnTo><a:quadBezTo>
									<a:pt x="0" y="0" />
									<a:pt x="233460" y="0" />
									</a:quadBezTo><a:close /></a:path></a:pathLst></a:custGeom><a:solidFill><a:srgbClr val="819063"><a:alpha val="10000"/></a:srgbClr></a:solidFill><a:ln></a:ln></p:spPr></p:sp><p:sp><p:nvSpPr><p:cNvPr id="6" name="Shape 4"></p:cNvPr><p:cNvSpPr/><p:nvPr></p:nvPr></p:nvSpPr><p:spPr><a:xfrm><a:off x="303600" y="1568644"/><a:ext cx="552398" cy="552398"/></a:xfrm><a:custGeom><a:avLst /><a:gdLst></a:gdLst><a:ahLst /><a:cxnLst></a:cxnLst><a:rect l="l" t="t" r="r" b="b" /><a:pathLst><a:path w="552398" h="552398"><a:moveTo><a:pt x="276199" y="0" /></a:moveTo><a:moveTo><a:pt x="276199" y="0" /></a:moveTo><a:cubicBezTo>
									<a:pt x="428637" y="0" />
									<a:pt x="552398" y="123761" />
									<a:pt x="552398" y="276199" />
									</a:cubicBezTo><a:cubicBezTo>
									<a:pt x="552398" y="428637" />
									<a:pt x="428637" y="552398" />
									<a:pt x="276199" y="552398" />
									</a:cubicBezTo><a:cubicBezTo>
									<a:pt x="123761" y="552398" />
									<a:pt x="0" y="428637" />
									<a:pt x="0" y="276199" />
									</a:cubicBezTo><a:cubicBezTo>
									<a:pt x="0" y="123761" />
									<a:pt x="123761" y="0" />
									<a:pt x="276199" y="0" />
									</a:cubicBezTo><a:close /></a:path></a:pathLst></a:custGeom><a:solidFill><a:srgbClr val="819063"/></a:solidFill><a:ln></a:ln></p:spPr></p:sp><p:sp><p:nvSpPr><p:cNvPr id="7" name="Shape 5"></p:cNvPr><p:cNvSpPr/><p:nvPr></p:nvPr></p:nvSpPr><p:spPr><a:xfrm><a:off x="504668" y="2957327"/><a:ext cx="4005154" cy="1859343"/></a:xfrm><a:custGeom><a:avLst /><a:gdLst></a:gdLst><a:ahLst /><a:cxnLst></a:cxnLst><a:rect l="l" t="t" r="r" b="b" /><a:pathLst><a:path w="4005154" h="1859343"><a:moveTo><a:pt x="232418" y="0" /></a:moveTo><a:moveTo><a:pt x="232418" y="0" /></a:moveTo><a:lnTo><a:pt x="3772736" y="0" /></a:lnTo><a:quadBezTo>
									<a:pt x="4005154" y="0" />
									<a:pt x="4005154" y="232418" />
									</a:quadBezTo><a:lnTo><a:pt x="4005154" y="1626925" /></a:lnTo><a:quadBezTo>
									<a:pt x="4005154" y="1859343" />
									<a:pt x="3772736" y="1859343" />
									</a:quadBezTo><a:lnTo><a:pt x="232418" y="1859343" /></a:lnTo><a:quadBezTo>
									<a:pt x="0" y="1859343" />
									<a:pt x="0" y="1626925" />
									</a:quadBezTo><a:lnTo><a:pt x="0" y="232418" /></a:lnTo><a:quadBezTo>
									<a:pt x="0" y="0" />
									<a:pt x="232418" y="0" />
									</a:quadBezTo><a:close /></a:path></a:pathLst></a:custGeom><a:solidFill><a:srgbClr val="819063"><a:alpha val="10000"/></a:srgbClr></a:solidFill><a:ln></a:ln></p:spPr></p:sp><p:sp><p:nvSpPr><p:cNvPr id="8" name="Shape 6"></p:cNvPr><p:cNvSpPr/><p:nvPr></p:nvPr></p:nvSpPr><p:spPr><a:xfrm><a:off x="303670" y="3610870"/><a:ext cx="552257" cy="552257"/></a:xfrm><a:custGeom><a:avLst /><a:gdLst></a:gdLst><a:ahLst /><a:cxnLst></a:cxnLst><a:rect l="l" t="t" r="r" b="b" /><a:pathLst><a:path w="552257" h="552257"><a:moveTo><a:pt x="276128" y="0" /></a:moveTo><a:moveTo><a:pt x="276128" y="0" /></a:moveTo><a:cubicBezTo>
									<a:pt x="428528" y="0" />
									<a:pt x="552257" y="123729" />
									<a:pt x="552257" y="276128" />
									</a:cubicBezTo><a:cubicBezTo>
									<a:pt x="552257" y="428528" />
									<a:pt x="428528" y="552257" />
									<a:pt x="276128" y="552257" />
									</a:cubicBezTo><a:cubicBezTo>
									<a:pt x="123729" y="552257" />
									<a:pt x="0" y="428528" />
									<a:pt x="0" y="276128" />
									</a:cubicBezTo><a:cubicBezTo>
									<a:pt x="0" y="123729" />
									<a:pt x="123729" y="0" />
									<a:pt x="276128" y="0" />
									</a:cubicBezTo><a:close /></a:path></a:pathLst></a:custGeom><a:solidFill><a:srgbClr val="819063"/></a:solidFill><a:ln></a:ln></p:spPr></p:sp><p:sp><p:nvSpPr><p:cNvPr id="9" name="Shape 7"></p:cNvPr><p:cNvSpPr/><p:nvPr></p:nvPr></p:nvSpPr><p:spPr><a:xfrm><a:off x="4624780" y="1568644"/><a:ext cx="552398" cy="552398"/></a:xfrm><a:custGeom><a:avLst /><a:gdLst></a:gdLst><a:ahLst /><a:cxnLst></a:cxnLst><a:rect l="l" t="t" r="r" b="b" /><a:pathLst><a:path w="552398" h="552398"><a:moveTo><a:pt x="276199" y="0" /></a:moveTo><a:moveTo><a:pt x="276199" y="0" /></a:moveTo><a:cubicBezTo>
									<a:pt x="428637" y="0" />
									<a:pt x="552398" y="123761" />
									<a:pt x="552398" y="276199" />
									</a:cubicBezTo><a:cubicBezTo>
									<a:pt x="552398" y="428637" />
									<a:pt x="428637" y="552398" />
									<a:pt x="276199" y="552398" />
									</a:cubicBezTo><a:cubicBezTo>
									<a:pt x="123761" y="552398" />
									<a:pt x="0" y="428637" />
									<a:pt x="0" y="276199" />
									</a:cubicBezTo><a:cubicBezTo>
									<a:pt x="0" y="123761" />
									<a:pt x="123761" y="0" />
									<a:pt x="276199" y="0" />
									</a:cubicBezTo><a:close /></a:path></a:pathLst></a:custGeom><a:solidFill><a:srgbClr val="819063"/></a:solidFill><a:ln></a:ln></p:spPr></p:sp><p:sp><p:nvSpPr><p:cNvPr id="10" name="Shape 8"></p:cNvPr><p:cNvSpPr/><p:nvPr></p:nvPr></p:nvSpPr><p:spPr><a:xfrm><a:off x="4624780" y="3610800"/><a:ext cx="552398" cy="552398"/></a:xfrm><a:custGeom><a:avLst /><a:gdLst></a:gdLst><a:ahLst /><a:cxnLst></a:cxnLst><a:rect l="l" t="t" r="r" b="b" /><a:pathLst><a:path w="552398" h="552398"><a:moveTo><a:pt x="276199" y="0" /></a:moveTo><a:moveTo><a:pt x="276199" y="0" /></a:moveTo><a:cubicBezTo>
									<a:pt x="428637" y="0" />
									<a:pt x="552398" y="123761" />
									<a:pt x="552398" y="276199" />
									</a:cubicBezTo><a:cubicBezTo>
									<a:pt x="552398" y="428637" />
									<a:pt x="428637" y="552398" />
									<a:pt x="276199" y="552398" />
									</a:cubicBezTo><a:cubicBezTo>
									<a:pt x="123761" y="552398" />
									<a:pt x="0" y="428637" />
									<a:pt x="0" y="276199" />
									</a:cubicBezTo><a:cubicBezTo>
									<a:pt x="0" y="123761" />
									<a:pt x="123761" y="0" />
									<a:pt x="276199" y="0" />
									</a:cubicBezTo><a:close /></a:path></a:pathLst></a:custGeom><a:solidFill><a:srgbClr val="819063"/></a:solidFill><a:ln></a:ln></p:spPr></p:sp><p:sp><p:nvSpPr><p:cNvPr id="11" name="Text 9"></p:cNvPr><p:cNvSpPr/><p:nvPr></p:nvPr></p:nvSpPr><p:spPr><a:xfrm><a:off x="897522" y="1012569"/><a:ext cx="3567344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Tạo C&amp;C</a:t></a:r><a:endParaRPr lang="en-US" sz="1440" dirty="0"/></a:p></p:txBody></p:sp><p:sp><p:nvSpPr><p:cNvPr id="12" name="Text 10"></p:cNvPr><p:cNvSpPr/><p:nvPr></p:nvPr></p:nvSpPr><p:spPr><a:xfrm><a:off x="897522" y="1514842"/><a:ext cx="3307900" cy="54864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Hacker triển khai server điều khiển từ xa quản lý botnet.</a:t></a:r><a:endParaRPr lang="en-US" sz="1440" dirty="0"/></a:p></p:txBody></p:sp><p:sp><p:nvSpPr><p:cNvPr id="13" name="Text 11"></p:cNvPr><p:cNvSpPr/><p:nvPr></p:nvPr></p:nvSpPr><p:spPr><a:xfrm><a:off x="5212038" y="1012617"/><a:ext cx="3567344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Lây nhiễm Bot</a:t></a:r><a:endParaRPr lang="en-US" sz="1440" dirty="0"/></a:p></p:txBody></p:sp><p:sp><p:nvSpPr><p:cNvPr id="14" name="Text 12"></p:cNvPr><p:cNvSpPr/><p:nvPr></p:nvPr></p:nvSpPr><p:spPr><a:xfrm><a:off x="5212038" y="1514842"/><a:ext cx="3307900" cy="54864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Bots tìm và lây nhiễm thiết bị dễ bị tấn công.</a:t></a:r><a:endParaRPr lang="en-US" sz="1440" dirty="0"/></a:p></p:txBody></p:sp><p:sp><p:nvSpPr><p:cNvPr id="15" name="Text 13"></p:cNvPr><p:cNvSpPr/><p:nvPr></p:nvPr></p:nvSpPr><p:spPr><a:xfrm><a:off x="897522" y="3051319"/><a:ext cx="3567344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Kết nối về C&amp;C</a:t></a:r><a:endParaRPr lang="en-US" sz="1440" dirty="0"/></a:p></p:txBody></p:sp><p:sp><p:nvSpPr><p:cNvPr id="16" name="Text 14"></p:cNvPr><p:cNvSpPr/><p:nvPr></p:nvPr></p:nvSpPr><p:spPr><a:xfrm><a:off x="897522" y="3560030"/><a:ext cx="3307900" cy="54864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Bots liên lạc với C&amp;C chờ lệnh qua kênh bí mật.</a:t></a:r><a:endParaRPr lang="en-US" sz="1440" dirty="0"/></a:p></p:txBody></p:sp><p:sp><p:nvSpPr><p:cNvPr id="17" name="Text 15"></p:cNvPr><p:cNvSpPr/><p:nvPr></p:nvPr></p:nvSpPr><p:spPr><a:xfrm><a:off x="5212038" y="3052400"/><a:ext cx="3567344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Ra lệnh tấn công</a:t></a:r><a:endParaRPr lang="en-US" sz="1440" dirty="0"/></a:p></p:txBody></p:sp><p:sp><p:nvSpPr><p:cNvPr id="18" name="Text 16"></p:cNvPr><p:cNvSpPr/><p:nvPr></p:nvPr></p:nvSpPr><p:spPr><a:xfrm><a:off x="5212038" y="3560030"/><a:ext cx="3307900" cy="54864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Hacker phát lệnh, bots đồng loạt tấn công mục tiêu.</a:t></a:r><a:endParaRPr lang="en-US" sz="1440" dirty="0"/></a:p></p:txBody></p:sp><p:sp><p:nvSpPr><p:cNvPr id="19" name="Text 17"></p:cNvPr><p:cNvSpPr/><p:nvPr></p:nvPr></p:nvSpPr><p:spPr><a:xfrm><a:off x="266305" y="1569192"/><a:ext cx="626988" cy="539496"/></a:xfrm><a:prstGeom prst="rect"><a:avLst></a:avLst></a:prstGeom><a:noFill/><a:ln></a:ln></p:spPr><p:txBody><a:bodyPr wrap="square" lIns="95250" tIns="95250" rIns="95250" bIns="95250" rtlCol="0" anchor="ctr"><a:spAutoFit/></a:bodyPr><a:lstStyle/><a:p><a:pPr algn="ctr" indent="0" marL="0"><a:lnSpc><a:spcPct val="112500"/></a:lnSpc><a:spcBef><a:spcPts val="375"/></a:spcBef><a:buNone/></a:pPr><a:r><a:rPr lang="en-US" sz="1872" b="1" dirty="0"><a:solidFill><a:srgbClr val="FFFFFF"/></a:solidFill><a:latin typeface="Noto Sans" pitchFamily="34" charset="0"/><a:ea typeface="Noto Sans" pitchFamily="34" charset="-122"/><a:cs typeface="Noto Sans" pitchFamily="34" charset="-120"/></a:rPr><a:t>01</a:t></a:r><a:endParaRPr lang="en-US" sz="1440" dirty="0"/></a:p></p:txBody></p:sp><p:sp><p:nvSpPr><p:cNvPr id="20" name="Text 18"></p:cNvPr><p:cNvSpPr/><p:nvPr></p:nvPr></p:nvSpPr><p:spPr><a:xfrm><a:off x="4587485" y="1569192"/><a:ext cx="626988" cy="539496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872" b="1" dirty="0"><a:solidFill><a:srgbClr val="FFFFFF"/></a:solidFill><a:latin typeface="Noto Sans" pitchFamily="34" charset="0"/><a:ea typeface="Noto Sans" pitchFamily="34" charset="-122"/><a:cs typeface="Noto Sans" pitchFamily="34" charset="-120"/></a:rPr><a:t>02</a:t></a:r><a:endParaRPr lang="en-US" sz="1440" dirty="0"/></a:p></p:txBody></p:sp><p:sp><p:nvSpPr><p:cNvPr id="21" name="Text 19"></p:cNvPr><p:cNvSpPr/><p:nvPr></p:nvPr></p:nvSpPr><p:spPr><a:xfrm><a:off x="266305" y="3611347"/><a:ext cx="626988" cy="539496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872" b="1" dirty="0"><a:solidFill><a:srgbClr val="FFFFFF"/></a:solidFill><a:latin typeface="Noto Sans" pitchFamily="34" charset="0"/><a:ea typeface="Noto Sans" pitchFamily="34" charset="-122"/><a:cs typeface="Noto Sans" pitchFamily="34" charset="-120"/></a:rPr><a:t>03</a:t></a:r><a:endParaRPr lang="en-US" sz="1440" dirty="0"/></a:p></p:txBody></p:sp><p:sp><p:nvSpPr><p:cNvPr id="22" name="Text 20"></p:cNvPr><p:cNvSpPr/><p:nvPr></p:nvPr></p:nvSpPr><p:spPr><a:xfrm><a:off x="4587485" y="3611347"/><a:ext cx="626988" cy="539496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872" b="1" dirty="0"><a:solidFill><a:srgbClr val="FFFFFF"/></a:solidFill><a:latin typeface="Noto Sans" pitchFamily="34" charset="0"/><a:ea typeface="Noto Sans" pitchFamily="34" charset="-122"/><a:cs typeface="Noto Sans" pitchFamily="34" charset="-120"/></a:rPr><a:t>04</a:t></a:r><a:endParaRPr lang="en-US" sz="1440" dirty="0"/></a:p></p:txBody></p:sp></p:spTree></p:cSld><p:clrMapOvr><a:masterClrMapping/></p:clrMapOvr>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65323" y="2501765"/>
            <a:ext cx="3813354" cy="5029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216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Phòng thủ</a:t>
            </a:r>
            <a:endParaRPr lang="en-US" sz="1440" dirty="0"/>
          </a:p>
        </p:txBody>
      </p:sp>
      <p:sp>
        <p:nvSpPr>
          <p:cNvPr id="3" name="Text 1"/>
          <p:cNvSpPr/>
          <p:nvPr/>
        </p:nvSpPr>
        <p:spPr>
          <a:xfrm>
            <a:off x="3868512" y="1395341"/>
            <a:ext cx="1406976" cy="12527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5616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03</a:t>
            </a:r>
            <a:endParaRPr lang="en-US" sz="1440" dirty="0"/>
          </a:p>
        </p:txBody>
      </p:sp>
      <p:sp>
        <p:nvSpPr>
          <p:cNvPr id="4" name="Shape 2"/>
          <p:cNvSpPr/>
          <p:nvPr/>
        </p:nvSpPr>
        <p:spPr>
          <a:xfrm>
            <a:off x="4423758" y="3325333"/>
            <a:ext cx="296485" cy="0"/>
          </a:xfrm>
          <a:custGeom>
            <a:avLst/>
            <a:gdLst/>
            <a:ahLst/>
            <a:cxnLst/>
            <a:rect l="l" t="t" r="r" b="b"/>
            <a:pathLst>
              <a:path w="296485" h="0">
                <a:moveTo>
                  <a:pt x="0" y="0"/>
                </a:moveTo>
                <a:moveTo>
                  <a:pt x="0" y="0"/>
                </a:moveTo>
                <a:lnTo>
                  <a:pt x="296485" y="0"/>
                </a:lnTo>
              </a:path>
            </a:pathLst>
          </a:custGeom>
          <a:noFill/>
          <a:ln w="19050">
            <a:solidFill>
              <a:srgbClr val="69862D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16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6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Phát hiện</a:t></a:r><a:endParaRPr lang="en-US" sz="1440" dirty="0"/></a:p></p:txBody></p:sp><p:sp><p:nvSpPr><p:cNvPr id="3" name="Shape 1"></p:cNvPr><p:cNvSpPr/><p:nvPr></p:nvPr></p:nvSpPr><p:spPr><a:xfrm><a:off x="3411" y="3169843"/><a:ext cx="756813" cy="0"/></a:xfrm><a:custGeom><a:avLst /><a:gdLst></a:gdLst><a:ahLst /><a:cxnLst></a:cxnLst><a:rect l="l" t="t" r="r" b="b" /><a:pathLst><a:path w="756813" h="0"><a:moveTo><a:pt x="0" y="0" /></a:moveTo><a:moveTo><a:pt x="0" y="0" /></a:moveTo><a:lnTo><a:pt x="756813" y="0" /></a:lnTo></a:path></a:pathLst></a:custGeom><a:noFill/><a:ln w="19050"><a:solidFill><a:srgbClr val="819063"/></a:solidFill><a:prstDash val="solid"/><a:headEnd type="none"/><a:tailEnd type="none"/></a:ln></p:spPr></p:sp><p:sp><p:nvSpPr><p:cNvPr id="4" name="Shape 2"></p:cNvPr><p:cNvSpPr/><p:nvPr></p:nvPr></p:nvSpPr><p:spPr><a:xfrm><a:off x="763427" y="1024861"/><a:ext cx="2278893" cy="3444457"/></a:xfrm><a:custGeom><a:avLst /><a:gdLst></a:gdLst><a:ahLst /><a:cxnLst></a:cxnLst><a:rect l="l" t="t" r="r" b="b" /><a:pathLst><a:path w="2278893" h="3444457"><a:moveTo><a:pt x="205225" y="0" /></a:moveTo><a:moveTo><a:pt x="205225" y="0" /></a:moveTo><a:lnTo><a:pt x="2073668" y="0" /></a:lnTo><a:quadBezTo>
									<a:pt x="2278893" y="0" />
									<a:pt x="2278893" y="261000" />
									</a:quadBezTo><a:lnTo><a:pt x="2278893" y="3183457" /></a:lnTo><a:quadBezTo>
									<a:pt x="2278893" y="3444457" />
									<a:pt x="2073668" y="3444457" />
									</a:quadBezTo><a:lnTo><a:pt x="205225" y="3444457" /></a:lnTo><a:quadBezTo>
									<a:pt x="0" y="3444457" />
									<a:pt x="0" y="3183457" />
									</a:quadBezTo><a:lnTo><a:pt x="0" y="261000" /></a:lnTo><a:quadBezTo>
									<a:pt x="0" y="0" />
									<a:pt x="205225" y="0" />
									</a:quadBezTo><a:close /></a:path></a:pathLst></a:custGeom><a:solidFill><a:srgbClr val="819063"><a:alpha val="10196"/></a:srgbClr></a:solidFill><a:ln w="9525"><a:solidFill><a:srgbClr val="819063"><a:alpha val="70196"/></a:srgbClr></a:solidFill><a:prstDash val="solid"/></a:ln></p:spPr></p:sp><p:sp><p:nvSpPr><p:cNvPr id="5" name="Shape 3"></p:cNvPr><p:cNvSpPr/><p:nvPr></p:nvPr></p:nvSpPr><p:spPr><a:xfrm><a:off x="838969" y="3739554"/><a:ext cx="2127809" cy="656539"/></a:xfrm><a:custGeom><a:avLst /><a:gdLst></a:gdLst><a:ahLst /><a:cxnLst></a:cxnLst><a:rect l="l" t="t" r="r" b="b" /><a:pathLst><a:path w="2127809" h="656539"><a:moveTo><a:pt x="115736" y="0" /></a:moveTo><a:moveTo><a:pt x="115736" y="0" /></a:moveTo><a:lnTo><a:pt x="2012073" y="0" /></a:lnTo><a:quadBezTo>
									<a:pt x="2127809" y="0" />
									<a:pt x="2127809" y="115736" />
									</a:quadBezTo><a:lnTo><a:pt x="2127809" y="540803" /></a:lnTo><a:quadBezTo>
									<a:pt x="2127809" y="656539" />
									<a:pt x="2012073" y="656539" />
									</a:quadBezTo><a:lnTo><a:pt x="115736" y="656539" /></a:lnTo><a:quadBezTo>
									<a:pt x="0" y="656539" />
									<a:pt x="0" y="540803" />
									</a:quadBezTo><a:lnTo><a:pt x="0" y="115736" /></a:lnTo><a:quadBezTo>
									<a:pt x="0" y="0" />
									<a:pt x="115736" y="0" />
									</a:quadBezTo><a:close /></a:path></a:pathLst></a:custGeom><a:solidFill><a:srgbClr val="819063"/></a:solidFill><a:ln></a:ln></p:spPr></p:sp><p:sp><p:nvSpPr><p:cNvPr id="6" name="Text 4"></p:cNvPr><p:cNvSpPr/><p:nvPr></p:nvPr></p:nvSpPr><p:spPr><a:xfrm><a:off x="1497553" y="1184756"/><a:ext cx="810643" cy="786384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3168" b="1" dirty="0"><a:solidFill><a:srgbClr val="819063"><a:alpha val="50000"/></a:srgbClr></a:solidFill><a:latin typeface="Noto Sans" pitchFamily="34" charset="0"/><a:ea typeface="Noto Sans" pitchFamily="34" charset="-122"/><a:cs typeface="Noto Sans" pitchFamily="34" charset="-120"/></a:rPr><a:t>01</a:t></a:r><a:endParaRPr lang="en-US" sz="1440" dirty="0"/></a:p></p:txBody></p:sp><p:sp><p:nvSpPr><p:cNvPr id="7" name="Shape 5"></p:cNvPr><p:cNvSpPr/><p:nvPr></p:nvPr></p:nvSpPr><p:spPr><a:xfrm><a:off x="3432762" y="1024765"/><a:ext cx="2278685" cy="3444553"/></a:xfrm><a:custGeom><a:avLst /><a:gdLst></a:gdLst><a:ahLst /><a:cxnLst></a:cxnLst><a:rect l="l" t="t" r="r" b="b" /><a:pathLst><a:path w="2278685" h="3444553"><a:moveTo><a:pt x="205206" y="0" /></a:moveTo><a:moveTo><a:pt x="205206" y="0" /></a:moveTo><a:lnTo><a:pt x="2073479" y="0" /></a:lnTo><a:quadBezTo>
									<a:pt x="2278685" y="0" />
									<a:pt x="2278685" y="260976" />
									</a:quadBezTo><a:lnTo><a:pt x="2278685" y="3183577" /></a:lnTo><a:quadBezTo>
									<a:pt x="2278685" y="3444553" />
									<a:pt x="2073479" y="3444553" />
									</a:quadBezTo><a:lnTo><a:pt x="205206" y="3444553" /></a:lnTo><a:quadBezTo>
									<a:pt x="0" y="3444553" />
									<a:pt x="0" y="3183577" />
									</a:quadBezTo><a:lnTo><a:pt x="0" y="260976" /></a:lnTo><a:quadBezTo>
									<a:pt x="0" y="0" />
									<a:pt x="205206" y="0" />
									</a:quadBezTo><a:close /></a:path></a:pathLst></a:custGeom><a:solidFill><a:srgbClr val="819063"><a:alpha val="10196"/></a:srgbClr></a:solidFill><a:ln w="9525"><a:solidFill><a:srgbClr val="819063"><a:alpha val="70196"/></a:srgbClr></a:solidFill><a:prstDash val="solid"/></a:ln></p:spPr></p:sp><p:sp><p:nvSpPr><p:cNvPr id="8" name="Shape 6"></p:cNvPr><p:cNvSpPr/><p:nvPr></p:nvPr></p:nvSpPr><p:spPr><a:xfrm><a:off x="3508200" y="3739554"/><a:ext cx="2127809" cy="656539"/></a:xfrm><a:custGeom><a:avLst /><a:gdLst></a:gdLst><a:ahLst /><a:cxnLst></a:cxnLst><a:rect l="l" t="t" r="r" b="b" /><a:pathLst><a:path w="2127809" h="656539"><a:moveTo><a:pt x="115736" y="0" /></a:moveTo><a:moveTo><a:pt x="115736" y="0" /></a:moveTo><a:lnTo><a:pt x="2012073" y="0" /></a:lnTo><a:quadBezTo>
									<a:pt x="2127809" y="0" />
									<a:pt x="2127809" y="115736" />
									</a:quadBezTo><a:lnTo><a:pt x="2127809" y="540803" /></a:lnTo><a:quadBezTo>
									<a:pt x="2127809" y="656539" />
									<a:pt x="2012073" y="656539" />
									</a:quadBezTo><a:lnTo><a:pt x="115736" y="656539" /></a:lnTo><a:quadBezTo>
									<a:pt x="0" y="656539" />
									<a:pt x="0" y="540803" />
									</a:quadBezTo><a:lnTo><a:pt x="0" y="115736" /></a:lnTo><a:quadBezTo>
									<a:pt x="0" y="0" />
									<a:pt x="115736" y="0" />
									</a:quadBezTo><a:close /></a:path></a:pathLst></a:custGeom><a:solidFill><a:srgbClr val="819063"/></a:solidFill><a:ln></a:ln></p:spPr></p:sp><p:sp><p:nvSpPr><p:cNvPr id="9" name="Text 7"></p:cNvPr><p:cNvSpPr/><p:nvPr></p:nvPr></p:nvSpPr><p:spPr><a:xfrm><a:off x="4166783" y="1184831"/><a:ext cx="810643" cy="786384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3168" b="1" dirty="0"><a:solidFill><a:srgbClr val="819063"><a:alpha val="50000"/></a:srgbClr></a:solidFill><a:latin typeface="Noto Sans" pitchFamily="34" charset="0"/><a:ea typeface="Noto Sans" pitchFamily="34" charset="-122"/><a:cs typeface="Noto Sans" pitchFamily="34" charset="-120"/></a:rPr><a:t>02</a:t></a:r><a:endParaRPr lang="en-US" sz="1440" dirty="0"/></a:p></p:txBody></p:sp><p:sp><p:nvSpPr><p:cNvPr id="10" name="Shape 8"></p:cNvPr><p:cNvSpPr/><p:nvPr></p:nvPr></p:nvSpPr><p:spPr><a:xfrm><a:off x="6111032" y="1024765"/><a:ext cx="2278685" cy="3444553"/></a:xfrm><a:custGeom><a:avLst /><a:gdLst></a:gdLst><a:ahLst /><a:cxnLst></a:cxnLst><a:rect l="l" t="t" r="r" b="b" /><a:pathLst><a:path w="2278685" h="3444553"><a:moveTo><a:pt x="205206" y="0" /></a:moveTo><a:moveTo><a:pt x="205206" y="0" /></a:moveTo><a:lnTo><a:pt x="2073479" y="0" /></a:lnTo><a:quadBezTo>
									<a:pt x="2278685" y="0" />
									<a:pt x="2278685" y="260976" />
									</a:quadBezTo><a:lnTo><a:pt x="2278685" y="3183577" /></a:lnTo><a:quadBezTo>
									<a:pt x="2278685" y="3444553" />
									<a:pt x="2073479" y="3444553" />
									</a:quadBezTo><a:lnTo><a:pt x="205206" y="3444553" /></a:lnTo><a:quadBezTo>
									<a:pt x="0" y="3444553" />
									<a:pt x="0" y="3183577" />
									</a:quadBezTo><a:lnTo><a:pt x="0" y="260976" /></a:lnTo><a:quadBezTo>
									<a:pt x="0" y="0" />
									<a:pt x="205206" y="0" />
									</a:quadBezTo><a:close /></a:path></a:pathLst></a:custGeom><a:solidFill><a:srgbClr val="819063"><a:alpha val="10196"/></a:srgbClr></a:solidFill><a:ln w="9525"><a:solidFill><a:srgbClr val="819063"><a:alpha val="70196"/></a:srgbClr></a:solidFill><a:prstDash val="solid"/></a:ln></p:spPr></p:sp><p:sp><p:nvSpPr><p:cNvPr id="11" name="Shape 9"></p:cNvPr><p:cNvSpPr/><p:nvPr></p:nvPr></p:nvSpPr><p:spPr><a:xfrm><a:off x="6186470" y="3739554"/><a:ext cx="2127809" cy="656539"/></a:xfrm><a:custGeom><a:avLst /><a:gdLst></a:gdLst><a:ahLst /><a:cxnLst></a:cxnLst><a:rect l="l" t="t" r="r" b="b" /><a:pathLst><a:path w="2127809" h="656539"><a:moveTo><a:pt x="115736" y="0" /></a:moveTo><a:moveTo><a:pt x="115736" y="0" /></a:moveTo><a:lnTo><a:pt x="2012073" y="0" /></a:lnTo><a:quadBezTo>
									<a:pt x="2127809" y="0" />
									<a:pt x="2127809" y="115736" />
									</a:quadBezTo><a:lnTo><a:pt x="2127809" y="540803" /></a:lnTo><a:quadBezTo>
									<a:pt x="2127809" y="656539" />
									<a:pt x="2012073" y="656539" />
									</a:quadBezTo><a:lnTo><a:pt x="115736" y="656539" /></a:lnTo><a:quadBezTo>
									<a:pt x="0" y="656539" />
									<a:pt x="0" y="540803" />
									</a:quadBezTo><a:lnTo><a:pt x="0" y="115736" /></a:lnTo><a:quadBezTo>
									<a:pt x="0" y="0" />
									<a:pt x="115736" y="0" />
									</a:quadBezTo><a:close /></a:path></a:pathLst></a:custGeom><a:solidFill><a:srgbClr val="819063"/></a:solidFill><a:ln></a:ln></p:spPr></p:sp><p:sp><p:nvSpPr><p:cNvPr id="12" name="Text 10"></p:cNvPr><p:cNvSpPr/><p:nvPr></p:nvPr></p:nvSpPr><p:spPr><a:xfrm><a:off x="6845053" y="1184756"/><a:ext cx="810643" cy="786384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3168" b="1" dirty="0"><a:solidFill><a:srgbClr val="819063"><a:alpha val="50000"/></a:srgbClr></a:solidFill><a:latin typeface="Noto Sans" pitchFamily="34" charset="0"/><a:ea typeface="Noto Sans" pitchFamily="34" charset="-122"/><a:cs typeface="Noto Sans" pitchFamily="34" charset="-120"/></a:rPr><a:t>03</a:t></a:r><a:endParaRPr lang="en-US" sz="1440" dirty="0"/></a:p></p:txBody></p:sp><p:sp><p:nvSpPr><p:cNvPr id="13" name="Text 11"></p:cNvPr><p:cNvSpPr/><p:nvPr></p:nvPr></p:nvSpPr><p:spPr><a:xfrm><a:off x="911657" y="3880371"/><a:ext cx="1981505" cy="374904"/></a:xfrm><a:prstGeom prst="rect"><a:avLst></a:avLst></a:prstGeom><a:noFill/><a:ln></a:ln></p:spPr><p:txBody><a:bodyPr wrap="square" lIns="95250" tIns="95250" rIns="95250" bIns="95250" rtlCol="0" anchor="ctr"></a:bodyPr><a:lstStyle/><a:p><a:pPr algn="ctr" indent="0" marL="0"><a:lnSpc><a:spcPct val="100000"/></a:lnSpc><a:spcBef><a:spcPts val="375"/></a:spcBef><a:buNone/></a:pPr><a:r><a:rPr lang="en-US" sz="1296" b="1" dirty="0"><a:solidFill><a:srgbClr val="FFFFFF"/></a:solidFill><a:latin typeface="Noto Sans" pitchFamily="34" charset="0"/><a:ea typeface="Noto Sans" pitchFamily="34" charset="-122"/><a:cs typeface="Noto Sans" pitchFamily="34" charset="-120"/></a:rPr><a:t>Phân tích hoạt động</a:t></a:r><a:endParaRPr lang="en-US" sz="1440" dirty="0"/></a:p></p:txBody></p:sp><p:sp><p:nvSpPr><p:cNvPr id="14" name="Text 12"></p:cNvPr><p:cNvSpPr/><p:nvPr></p:nvPr></p:nvSpPr><p:spPr><a:xfrm><a:off x="816109" y="1971140"/><a:ext cx="2173529" cy="813816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Phân biệt lưu lượng bất thường và hợp lệ dựa trên hành vi.</a:t></a:r><a:endParaRPr lang="en-US" sz="1440" dirty="0"/></a:p></p:txBody></p:sp><p:sp><p:nvSpPr><p:cNvPr id="15" name="Text 13"></p:cNvPr><p:cNvSpPr/><p:nvPr></p:nvPr></p:nvSpPr><p:spPr><a:xfrm><a:off x="3581248" y="3880371"/><a:ext cx="1981712" cy="374904"/></a:xfrm><a:prstGeom prst="rect"><a:avLst></a:avLst></a:prstGeom><a:noFill/><a:ln></a:ln></p:spPr><p:txBody><a:bodyPr wrap="square" lIns="95250" tIns="95250" rIns="95250" bIns="95250" rtlCol="0" anchor="ctr"></a:bodyPr><a:lstStyle/><a:p><a:pPr algn="ctr" indent="0" marL="0"><a:lnSpc><a:spcPct val="100000"/></a:lnSpc><a:spcBef><a:spcPts val="375"/></a:spcBef><a:buNone/></a:pPr><a:r><a:rPr lang="en-US" sz="1296" b="1" dirty="0"><a:solidFill><a:srgbClr val="FFFFFF"/></a:solidFill><a:latin typeface="Noto Sans" pitchFamily="34" charset="0"/><a:ea typeface="Noto Sans" pitchFamily="34" charset="-122"/><a:cs typeface="Noto Sans" pitchFamily="34" charset="-120"/></a:rPr><a:t>Phát hiện điểm đổi</a:t></a:r><a:endParaRPr lang="en-US" sz="1440" dirty="0"/></a:p></p:txBody></p:sp><p:sp><p:nvSpPr><p:cNvPr id="16" name="Text 14"></p:cNvPr><p:cNvSpPr/><p:nvPr></p:nvPr></p:nvSpPr><p:spPr><a:xfrm><a:off x="3485340" y="1971215"/><a:ext cx="2173529" cy="10241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Dùng thuật toán CUSUM xác định thay đổi đột ngột lưu lượng.</a:t></a:r><a:endParaRPr lang="en-US" sz="1440" dirty="0"/></a:p></p:txBody></p:sp><p:sp><p:nvSpPr><p:cNvPr id="17" name="Text 15"></p:cNvPr><p:cNvSpPr/><p:nvPr></p:nvPr></p:nvSpPr><p:spPr><a:xfrm><a:off x="6259518" y="3894087"/><a:ext cx="1981712" cy="347472"/></a:xfrm><a:prstGeom prst="rect"><a:avLst></a:avLst></a:prstGeom><a:noFill/><a:ln></a:ln></p:spPr><p:txBody><a:bodyPr wrap="square" lIns="95250" tIns="95250" rIns="95250" bIns="95250" rtlCol="0" anchor="ctr"></a:bodyPr><a:lstStyle/><a:p><a:pPr algn="ctr" indent="0" marL="0"><a:lnSpc><a:spcPct val="100000"/></a:lnSpc><a:spcBef><a:spcPts val="375"/></a:spcBef><a:buNone/></a:pPr><a:r><a:rPr lang="en-US" sz="1296" b="1" dirty="0"><a:solidFill><a:srgbClr val="FFFFFF"/></a:solidFill><a:latin typeface="Noto Sans" pitchFamily="34" charset="0"/><a:ea typeface="Noto Sans" pitchFamily="34" charset="-122"/><a:cs typeface="Noto Sans" pitchFamily="34" charset="-120"/></a:rPr><a:t>Phân tích Wavelet</a:t></a:r><a:endParaRPr lang="en-US" sz="1440" dirty="0"/></a:p></p:txBody></p:sp><p:sp><p:nvSpPr><p:cNvPr id="18" name="Text 16"></p:cNvPr><p:cNvSpPr/><p:nvPr></p:nvPr></p:nvSpPr><p:spPr><a:xfrm><a:off x="6163834" y="1971140"/><a:ext cx="2173081" cy="813816"/></a:xfrm><a:prstGeom prst="rect"><a:avLst></a:avLst></a:prstGeom><a:noFill/><a:ln></a:ln></p:spPr><p:txBody><a:bodyPr wrap="square" lIns="95250" tIns="95250" rIns="95250" bIns="95250" rtlCol="0" anchor="b"><a:spAutoFit/></a:bodyPr><a:lstStyle/><a:p><a:pPr algn="ct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Phân tích thời gian và tần số để phát hiện bất thường.</a:t></a:r><a:endParaRPr lang="en-US" sz="1440" dirty="0"/></a:p></p:txBody></p:sp><p:sp><p:nvSpPr><p:cNvPr id="19" name="Shape 17"></p:cNvPr><p:cNvSpPr/><p:nvPr></p:nvPr></p:nvSpPr><p:spPr><a:xfrm><a:off x="3039117" y="3169918"/><a:ext cx="402607" cy="0"/></a:xfrm><a:custGeom><a:avLst /><a:gdLst></a:gdLst><a:ahLst /><a:cxnLst></a:cxnLst><a:rect l="l" t="t" r="r" b="b" /><a:pathLst><a:path w="402607" h="0"><a:moveTo><a:pt x="0" y="0" /></a:moveTo><a:moveTo><a:pt x="0" y="0" /></a:moveTo><a:lnTo><a:pt x="402607" y="0" /></a:lnTo></a:path></a:pathLst></a:custGeom><a:noFill/><a:ln w="19050"><a:solidFill><a:srgbClr val="819063"/></a:solidFill><a:prstDash val="solid"/><a:headEnd type="none"/><a:tailEnd type="none"/></a:ln></p:spPr></p:sp><p:sp><p:nvSpPr><p:cNvPr id="20" name="Shape 18"></p:cNvPr><p:cNvSpPr/><p:nvPr></p:nvPr></p:nvSpPr><p:spPr><a:xfrm><a:off x="5708243" y="3169918"/><a:ext cx="402607" cy="0"/></a:xfrm><a:custGeom><a:avLst /><a:gdLst></a:gdLst><a:ahLst /><a:cxnLst></a:cxnLst><a:rect l="l" t="t" r="r" b="b" /><a:pathLst><a:path w="402607" h="0"><a:moveTo><a:pt x="0" y="0" /></a:moveTo><a:moveTo><a:pt x="0" y="0" /></a:moveTo><a:lnTo><a:pt x="402607" y="0" /></a:lnTo></a:path></a:pathLst></a:custGeom><a:noFill/><a:ln w="19050"><a:solidFill><a:srgbClr val="819063"/></a:solidFill><a:prstDash val="solid"/><a:headEnd type="none"/><a:tailEnd type="none"/></a:ln></p:spPr></p:sp><p:sp><p:nvSpPr><p:cNvPr id="21" name="Shape 19"></p:cNvPr><p:cNvSpPr/><p:nvPr></p:nvPr></p:nvSpPr><p:spPr><a:xfrm><a:off x="8383984" y="3169918"/><a:ext cx="756813" cy="0"/></a:xfrm><a:custGeom><a:avLst /><a:gdLst></a:gdLst><a:ahLst /><a:cxnLst></a:cxnLst><a:rect l="l" t="t" r="r" b="b" /><a:pathLst><a:path w="756813" h="0"><a:moveTo><a:pt x="0" y="0" /></a:moveTo><a:moveTo><a:pt x="0" y="0" /></a:moveTo><a:lnTo><a:pt x="756813" y="0" /></a:lnTo></a:path></a:pathLst></a:custGeom><a:noFill/><a:ln w="19050"><a:solidFill><a:srgbClr val="819063"/></a:solidFill><a:prstDash val="solid"/><a:headEnd type="none"/><a:tailEnd type="none"/></a:ln></p:spPr></p:sp></p:spTree></p:cSld><p:clrMapOvr><a:masterClrMapping/></p:clrMapOvr></p:sld>
</file>

<file path=ppt/slides/slide1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17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Activity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/a:blip>  <a:stretch><a:fillRect/></a:stretch></p:blipFill><p:spPr> <a:xfrm>  <a:off x="3109439" y="768513"/>  <a:ext cx="2956814" cy="3606474"/> </a:xfrm> <a:prstGeom prst="rect"><a:avLst/></a:prstGeom></p:spPr></p:pic><p:sp><p:nvSpPr><p:cNvPr id="4" name="Text 1"></p:cNvPr><p:cNvSpPr/><p:nvPr></p:nvPr></p:nvSpPr><p:spPr><a:xfrm><a:off x="3469451" y="1016496"/><a:ext cx="2236791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01</a:t></a:r><a:endParaRPr lang="en-US" sz="1440" dirty="0"/></a:p></p:txBody></p:sp><p:sp><p:nvSpPr><p:cNvPr id="5" name="Text 2"></p:cNvPr><p:cNvSpPr/><p:nvPr></p:nvPr></p:nvSpPr><p:spPr><a:xfrm><a:off x="3469451" y="1706503"/><a:ext cx="2236791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02</a:t></a:r><a:endParaRPr lang="en-US" sz="1440" dirty="0"/></a:p></p:txBody></p:sp><p:sp><p:nvSpPr><p:cNvPr id="6" name="Text 3"></p:cNvPr><p:cNvSpPr/><p:nvPr></p:nvPr></p:nvSpPr><p:spPr><a:xfrm><a:off x="3838521" y="2437543"/><a:ext cx="1498650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03</a:t></a:r><a:endParaRPr lang="en-US" sz="1440" dirty="0"/></a:p></p:txBody></p:sp><p:sp><p:nvSpPr><p:cNvPr id="7" name="Text 4"></p:cNvPr><p:cNvSpPr/><p:nvPr></p:nvPr></p:nvSpPr><p:spPr><a:xfrm><a:off x="4196408" y="3220647"/><a:ext cx="782877" cy="566928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2016" b="1" dirty="0"><a:solidFill><a:srgbClr val="FFFFFF"/></a:solidFill><a:latin typeface="Noto Sans" pitchFamily="34" charset="0"/><a:ea typeface="Noto Sans" pitchFamily="34" charset="-122"/><a:cs typeface="Noto Sans" pitchFamily="34" charset="-120"/></a:rPr><a:t>04</a:t></a:r><a:endParaRPr lang="en-US" sz="1440" dirty="0"/></a:p></p:txBody></p:sp><p:sp><p:nvSpPr><p:cNvPr id="8" name="Text 5"></p:cNvPr><p:cNvSpPr/><p:nvPr></p:nvPr></p:nvSpPr><p:spPr><a:xfrm><a:off x="808437" y="961632"/><a:ext cx="2520294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Mục tiêu hoạt động</a:t></a:r><a:endParaRPr lang="en-US" sz="1440" dirty="0"/></a:p></p:txBody></p:sp><p:sp><p:nvSpPr><p:cNvPr id="9" name="Text 6"></p:cNvPr><p:cNvSpPr/><p:nvPr></p:nvPr></p:nvSpPr><p:spPr><a:xfrm><a:off x="808437" y="1459315"/><a:ext cx="2520294" cy="73152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Làm giảm hoặc ngăn truy cập dịch vụ bằng cách tràn ngập lưu lượng.</a:t></a:r><a:endParaRPr lang="en-US" sz="1440" dirty="0"/></a:p></p:txBody></p:sp><p:sp><p:nvSpPr><p:cNvPr id="10" name="Text 7"></p:cNvPr><p:cNvSpPr/><p:nvPr></p:nvPr></p:nvSpPr><p:spPr><a:xfrm><a:off x="5685921" y="1382256"/><a:ext cx="2540741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Chu trình botnet</a:t></a:r><a:endParaRPr lang="en-US" sz="1440" dirty="0"/></a:p></p:txBody></p:sp><p:sp><p:nvSpPr><p:cNvPr id="11" name="Text 8"></p:cNvPr><p:cNvSpPr/><p:nvPr></p:nvPr></p:nvSpPr><p:spPr><a:xfrm><a:off x="5685921" y="1879939"/><a:ext cx="2540741" cy="73152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Tạo C&amp;C, lây nhiễm, kết nối bots, nhận lệnh và tấn công mục tiêu.</a:t></a:r><a:endParaRPr lang="en-US" sz="1440" dirty="0"/></a:p></p:txBody></p:sp><p:sp><p:nvSpPr><p:cNvPr id="12" name="Text 9"></p:cNvPr><p:cNvSpPr/><p:nvPr></p:nvPr></p:nvSpPr><p:spPr><a:xfrm><a:off x="1273233" y="3005585"/><a:ext cx="2683872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Các kỹ thuật tấn công</a:t></a:r><a:endParaRPr lang="en-US" sz="1440" dirty="0"/></a:p></p:txBody></p:sp><p:sp><p:nvSpPr><p:cNvPr id="13" name="Text 10"></p:cNvPr><p:cNvSpPr/><p:nvPr></p:nvPr></p:nvSpPr><p:spPr><a:xfrm><a:off x="1273233" y="3503268"/><a:ext cx="2683872" cy="73152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Volumetric, SYN flood, DRDoS, fragmentation, application layer khai thác.</a:t></a:r><a:endParaRPr lang="en-US" sz="1440" dirty="0"/></a:p></p:txBody></p:sp><p:sp><p:nvSpPr><p:cNvPr id="14" name="Text 11"></p:cNvPr><p:cNvSpPr/><p:nvPr></p:nvPr></p:nvSpPr><p:spPr><a:xfrm><a:off x="5051859" y="3377374"/><a:ext cx="2734990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00070F"/></a:solidFill><a:latin typeface="Noto Sans" pitchFamily="34" charset="0"/><a:ea typeface="Noto Sans" pitchFamily="34" charset="-122"/><a:cs typeface="Noto Sans" pitchFamily="34" charset="-120"/></a:rPr><a:t>Công cụ tấn công</a:t></a:r><a:endParaRPr lang="en-US" sz="1440" dirty="0"/></a:p></p:txBody></p:sp><p:sp><p:nvSpPr><p:cNvPr id="15" name="Text 12"></p:cNvPr><p:cNvSpPr/><p:nvPr></p:nvPr></p:nvSpPr><p:spPr><a:xfrm><a:off x="5051859" y="3875057"/><a:ext cx="2734990" cy="731520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LOIC, HOIC, HULK, PyLoris, Pandora và AnDOSid thường dùng.</a:t></a:r><a:endParaRPr lang="en-US" sz="1440" dirty="0"/></a:p></p:txBody></p:sp><p:sp><p:nvSpPr><p:cNvPr id="16" name="Shape 13"></p:cNvPr><p:cNvSpPr/><p:nvPr></p:nvPr></p:nvSpPr><p:spPr><a:xfrm flipH="1"><a:off x="252298" y="892699"/><a:ext cx="622499" cy="622499"/></a:xfrm><a:custGeom><a:avLst /><a:gdLst></a:gdLst><a:ahLst /><a:cxnLst></a:cxnLst><a:rect l="l" t="t" r="r" b="b" /><a:pathLst><a:path w="622499" h="622499"><a:moveTo><a:pt x="311249" y="0" /></a:moveTo><a:moveTo><a:pt x="311249" y="0" /></a:moveTo><a:lnTo><a:pt x="0" y="311249" /></a:lnTo><a:lnTo><a:pt x="311249" y="622499" /></a:lnTo><a:lnTo><a:pt x="622499" y="311249" /></a:lnTo><a:lnTo><a:pt x="311249" y="0" /></a:lnTo><a:close /></a:path></a:pathLst></a:custGeom><a:solidFill><a:srgbClr val="819063"/></a:solidFill><a:ln></a:ln></p:spPr></p:sp><p:sp><p:nvSpPr><p:cNvPr id="17" name="Text 14"></p:cNvPr><p:cNvSpPr/><p:nvPr></p:nvPr></p:nvSpPr><p:spPr><a:xfrm><a:off x="261442" y="975348"/><a:ext cx="582743" cy="457200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01</a:t></a:r><a:endParaRPr lang="en-US" sz="1440" dirty="0"/></a:p></p:txBody></p:sp><p:sp><p:nvSpPr><p:cNvPr id="18" name="Shape 15"></p:cNvPr><p:cNvSpPr/><p:nvPr></p:nvPr></p:nvSpPr><p:spPr><a:xfrm flipH="1"><a:off x="650734" y="2918869"/><a:ext cx="622499" cy="622499"/></a:xfrm><a:custGeom><a:avLst /><a:gdLst></a:gdLst><a:ahLst /><a:cxnLst></a:cxnLst><a:rect l="l" t="t" r="r" b="b" /><a:pathLst><a:path w="622499" h="622499"><a:moveTo><a:pt x="311249" y="0" /></a:moveTo><a:moveTo><a:pt x="311249" y="0" /></a:moveTo><a:lnTo><a:pt x="0" y="311249" /></a:lnTo><a:lnTo><a:pt x="311249" y="622499" /></a:lnTo><a:lnTo><a:pt x="622499" y="311249" /></a:lnTo><a:lnTo><a:pt x="311249" y="0" /></a:lnTo><a:close /></a:path></a:pathLst></a:custGeom><a:solidFill><a:srgbClr val="819063"/></a:solidFill><a:ln></a:ln></p:spPr></p:sp><p:sp><p:nvSpPr><p:cNvPr id="19" name="Text 16"></p:cNvPr><p:cNvSpPr/><p:nvPr></p:nvPr></p:nvSpPr><p:spPr><a:xfrm><a:off x="659878" y="3001518"/><a:ext cx="582743" cy="457200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03</a:t></a:r><a:endParaRPr lang="en-US" sz="1440" dirty="0"/></a:p></p:txBody></p:sp><p:sp><p:nvSpPr><p:cNvPr id="20" name="Shape 17"></p:cNvPr><p:cNvSpPr/><p:nvPr></p:nvPr></p:nvSpPr><p:spPr><a:xfrm flipH="1"><a:off x="8226662" y="1313323"/><a:ext cx="622499" cy="622499"/></a:xfrm><a:custGeom><a:avLst /><a:gdLst></a:gdLst><a:ahLst /><a:cxnLst></a:cxnLst><a:rect l="l" t="t" r="r" b="b" /><a:pathLst><a:path w="622499" h="622499"><a:moveTo><a:pt x="311249" y="0" /></a:moveTo><a:moveTo><a:pt x="311249" y="0" /></a:moveTo><a:lnTo><a:pt x="0" y="311249" /></a:lnTo><a:lnTo><a:pt x="311249" y="622499" /></a:lnTo><a:lnTo><a:pt x="622499" y="311249" /></a:lnTo><a:lnTo><a:pt x="311249" y="0" /></a:lnTo><a:close /></a:path></a:pathLst></a:custGeom><a:solidFill><a:srgbClr val="819063"/></a:solidFill><a:ln></a:ln></p:spPr></p:sp><p:sp><p:nvSpPr><p:cNvPr id="21" name="Text 18"></p:cNvPr><p:cNvSpPr/><p:nvPr></p:nvPr></p:nvSpPr><p:spPr><a:xfrm><a:off x="8235806" y="1395972"/><a:ext cx="582743" cy="457200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02</a:t></a:r><a:endParaRPr lang="en-US" sz="1440" dirty="0"/></a:p></p:txBody></p:sp><p:sp><p:nvSpPr><p:cNvPr id="22" name="Shape 19"></p:cNvPr><p:cNvSpPr/><p:nvPr></p:nvPr></p:nvSpPr><p:spPr><a:xfrm flipH="1"><a:off x="7739566" y="3308441"/><a:ext cx="622499" cy="622499"/></a:xfrm><a:custGeom><a:avLst /><a:gdLst></a:gdLst><a:ahLst /><a:cxnLst></a:cxnLst><a:rect l="l" t="t" r="r" b="b" /><a:pathLst><a:path w="622499" h="622499"><a:moveTo><a:pt x="311249" y="0" /></a:moveTo><a:moveTo><a:pt x="311249" y="0" /></a:moveTo><a:lnTo><a:pt x="0" y="311249" /></a:lnTo><a:lnTo><a:pt x="311249" y="622499" /></a:lnTo><a:lnTo><a:pt x="622499" y="311249" /></a:lnTo><a:lnTo><a:pt x="311249" y="0" /></a:lnTo><a:close /></a:path></a:pathLst></a:custGeom><a:solidFill><a:srgbClr val="819063"/></a:solidFill><a:ln></a:ln></p:spPr></p:sp><p:sp><p:nvSpPr><p:cNvPr id="23" name="Text 20"></p:cNvPr><p:cNvSpPr/><p:nvPr></p:nvPr></p:nvSpPr><p:spPr><a:xfrm><a:off x="7748710" y="3391090"/><a:ext cx="582743" cy="457200"/></a:xfrm><a:prstGeom prst="rect"><a:avLst></a:avLst></a:prstGeom><a:noFill/><a:ln></a:ln></p:spPr><p:txBody><a:bodyPr wrap="square" lIns="95250" tIns="95250" rIns="95250" bIns="95250" rtlCol="0" anchor="t"><a:spAutoFit/></a:bodyPr><a:lstStyle/><a:p><a:pPr algn="ctr" indent="0" marL="0"><a:lnSpc><a:spcPct val="112500"/></a:lnSpc><a:spcBef><a:spcPts val="375"/></a:spcBef><a:buNone/></a:pPr><a:r><a:rPr lang="en-US" sz="1440" b="1" dirty="0"><a:solidFill><a:srgbClr val="FFFFFF"/></a:solidFill><a:latin typeface="Noto Sans" pitchFamily="34" charset="0"/><a:ea typeface="Noto Sans" pitchFamily="34" charset="-122"/><a:cs typeface="Noto Sans" pitchFamily="34" charset="-120"/></a:rPr><a:t>04</a:t></a:r><a:endParaRPr lang="en-US" sz="1440" dirty="0"/></a:p></p:txBody></p:sp></p:spTree></p:cSld><p:clrMapOvr><a:masterClrMapping/></p:clrMapOvr>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Cusum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1607938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819063"/>
          </a:solidFill>
          <a:ln w="238125">
            <a:solidFill>
              <a:srgbClr val="819063">
                <a:alpha val="25882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4623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 h="0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1894037" y="3278417"/>
            <a:ext cx="0" cy="196229"/>
          </a:xfrm>
          <a:custGeom>
            <a:avLst/>
            <a:gdLst/>
            <a:ahLst/>
            <a:cxnLst/>
            <a:rect l="l" t="t" r="r" b="b"/>
            <a:pathLst>
              <a:path w="0"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12605">
            <a:solidFill>
              <a:srgbClr val="819063"/>
            </a:solidFill>
            <a:prstDash val="solid"/>
            <a:headEnd type="none"/>
            <a:tailEnd type="none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655" y="3520033"/>
            <a:ext cx="3389198" cy="1222844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655" y="3428926"/>
            <a:ext cx="3389198" cy="47679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3350218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759063"/>
          </a:solidFill>
          <a:ln w="238125">
            <a:solidFill>
              <a:srgbClr val="759063">
                <a:alpha val="25882"/>
              </a:srgbClr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3663369" y="2276419"/>
            <a:ext cx="304" cy="164514"/>
          </a:xfrm>
          <a:custGeom>
            <a:avLst/>
            <a:gdLst/>
            <a:ahLst/>
            <a:cxnLst/>
            <a:rect l="l" t="t" r="r" b="b"/>
            <a:pathLst>
              <a:path w="304" h="164514">
                <a:moveTo>
                  <a:pt x="304" y="164514"/>
                </a:moveTo>
                <a:moveTo>
                  <a:pt x="304" y="1645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7398" y="1053389"/>
            <a:ext cx="3388766" cy="1222553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7279" y="962468"/>
            <a:ext cx="3388766" cy="476402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5092499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819063"/>
          </a:solidFill>
          <a:ln w="238125">
            <a:solidFill>
              <a:srgbClr val="819063">
                <a:alpha val="25882"/>
              </a:srgbClr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834780" y="2555482"/>
            <a:ext cx="626301" cy="626301"/>
          </a:xfrm>
          <a:custGeom>
            <a:avLst/>
            <a:gdLst/>
            <a:ahLst/>
            <a:cxnLst/>
            <a:rect l="l" t="t" r="r" b="b"/>
            <a:pathLst>
              <a:path w="626301" h="626301">
                <a:moveTo>
                  <a:pt x="313151" y="0"/>
                </a:moveTo>
                <a:moveTo>
                  <a:pt x="313151" y="0"/>
                </a:moveTo>
                <a:cubicBezTo>
                  <a:pt x="485983" y="0"/>
                  <a:pt x="626301" y="140318"/>
                  <a:pt x="626301" y="313151"/>
                </a:cubicBezTo>
                <a:cubicBezTo>
                  <a:pt x="626301" y="485983"/>
                  <a:pt x="485983" y="626301"/>
                  <a:pt x="313151" y="626301"/>
                </a:cubicBezTo>
                <a:cubicBezTo>
                  <a:pt x="140318" y="626301"/>
                  <a:pt x="0" y="485983"/>
                  <a:pt x="0" y="313151"/>
                </a:cubicBezTo>
                <a:cubicBezTo>
                  <a:pt x="0" y="140318"/>
                  <a:pt x="140318" y="0"/>
                  <a:pt x="313151" y="0"/>
                </a:cubicBezTo>
                <a:close/>
              </a:path>
            </a:pathLst>
          </a:custGeom>
          <a:solidFill>
            <a:srgbClr val="759063"/>
          </a:solidFill>
          <a:ln w="238125">
            <a:solidFill>
              <a:srgbClr val="759063">
                <a:alpha val="25882"/>
              </a:srgbClr>
            </a:solidFill>
            <a:prstDash val="solid"/>
          </a:ln>
        </p:spPr>
      </p:sp>
      <p:sp>
        <p:nvSpPr>
          <p:cNvPr id="14" name="Shape 8"/>
          <p:cNvSpPr/>
          <p:nvPr/>
        </p:nvSpPr>
        <p:spPr>
          <a:xfrm>
            <a:off x="5405650" y="3287561"/>
            <a:ext cx="0" cy="196229"/>
          </a:xfrm>
          <a:custGeom>
            <a:avLst/>
            <a:gdLst/>
            <a:ahLst/>
            <a:cxnLst/>
            <a:rect l="l" t="t" r="r" b="b"/>
            <a:pathLst>
              <a:path w="0" h="196229">
                <a:moveTo>
                  <a:pt x="0" y="196229"/>
                </a:moveTo>
                <a:moveTo>
                  <a:pt x="0" y="196229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24858" y="3529584"/>
            <a:ext cx="3388766" cy="1222553"/>
          </a:xfrm>
          <a:prstGeom prst="rect">
            <a:avLst/>
          </a:prstGeom>
        </p:spPr>
      </p:pic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24858" y="3438144"/>
            <a:ext cx="3388766" cy="47640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7147931" y="2281240"/>
            <a:ext cx="304" cy="164514"/>
          </a:xfrm>
          <a:custGeom>
            <a:avLst/>
            <a:gdLst/>
            <a:ahLst/>
            <a:cxnLst/>
            <a:rect l="l" t="t" r="r" b="b"/>
            <a:pathLst>
              <a:path w="304" h="164514">
                <a:moveTo>
                  <a:pt x="304" y="164514"/>
                </a:moveTo>
                <a:moveTo>
                  <a:pt x="304" y="164514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01945" y="1057961"/>
            <a:ext cx="3388766" cy="1222553"/>
          </a:xfrm>
          <a:prstGeom prst="rect">
            <a:avLst/>
          </a:prstGeom>
        </p:spPr>
      </p:pic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1945" y="967435"/>
            <a:ext cx="3388766" cy="476402"/>
          </a:xfrm>
          <a:prstGeom prst="rect">
            <a:avLst/>
          </a:prstGeom>
        </p:spPr>
      </p:pic>
      <p:sp>
        <p:nvSpPr>
          <p:cNvPr id="20" name="Shape 10"/>
          <p:cNvSpPr/>
          <p:nvPr/>
        </p:nvSpPr>
        <p:spPr>
          <a:xfrm>
            <a:off x="408851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 h="0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sp>
        <p:nvSpPr>
          <p:cNvPr id="21" name="Shape 11"/>
          <p:cNvSpPr/>
          <p:nvPr/>
        </p:nvSpPr>
        <p:spPr>
          <a:xfrm>
            <a:off x="5830111" y="2868632"/>
            <a:ext cx="904086" cy="0"/>
          </a:xfrm>
          <a:custGeom>
            <a:avLst/>
            <a:gdLst/>
            <a:ahLst/>
            <a:cxnLst/>
            <a:rect l="l" t="t" r="r" b="b"/>
            <a:pathLst>
              <a:path w="904086" h="0">
                <a:moveTo>
                  <a:pt x="0" y="0"/>
                </a:moveTo>
                <a:moveTo>
                  <a:pt x="0" y="0"/>
                </a:moveTo>
                <a:lnTo>
                  <a:pt x="904086" y="0"/>
                </a:lnTo>
              </a:path>
            </a:pathLst>
          </a:custGeom>
          <a:noFill/>
          <a:ln w="9525">
            <a:solidFill>
              <a:srgbClr val="819063"/>
            </a:solidFill>
            <a:prstDash val="solid"/>
            <a:headEnd type="none"/>
            <a:tailEnd type="none"/>
          </a:ln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742171" y="2689715"/>
            <a:ext cx="357834" cy="357834"/>
          </a:xfrm>
          <a:prstGeom prst="rect">
            <a:avLst/>
          </a:prstGeom>
        </p:spPr>
      </p:pic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517065" y="2722328"/>
            <a:ext cx="292608" cy="292608"/>
          </a:xfrm>
          <a:prstGeom prst="rect">
            <a:avLst/>
          </a:prstGeom>
        </p:spPr>
      </p:pic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8490" y="2731472"/>
            <a:ext cx="274320" cy="274320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942191" y="2667464"/>
            <a:ext cx="411480" cy="402336"/>
          </a:xfrm>
          <a:prstGeom prst="rect">
            <a:avLst/>
          </a:prstGeom>
        </p:spPr>
      </p:pic>
      <p:sp>
        <p:nvSpPr>
          <p:cNvPr id="26" name="Text 12"/>
          <p:cNvSpPr/>
          <p:nvPr/>
        </p:nvSpPr>
        <p:spPr>
          <a:xfrm>
            <a:off x="289865" y="3429000"/>
            <a:ext cx="3315614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Mục tiêu Cusum</a:t>
            </a:r>
            <a:endParaRPr lang="en-US" sz="1440" dirty="0"/>
          </a:p>
        </p:txBody>
      </p:sp>
      <p:sp>
        <p:nvSpPr>
          <p:cNvPr id="27" name="Text 13"/>
          <p:cNvSpPr/>
          <p:nvPr/>
        </p:nvSpPr>
        <p:spPr>
          <a:xfrm>
            <a:off x="253289" y="3887114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hiện điểm thay đổi đột ngột trong tốc độ gói tin trung bình.</a:t>
            </a:r>
            <a:endParaRPr lang="en-US" sz="1440" dirty="0"/>
          </a:p>
        </p:txBody>
      </p:sp>
      <p:sp>
        <p:nvSpPr>
          <p:cNvPr id="28" name="Text 14"/>
          <p:cNvSpPr/>
          <p:nvPr/>
        </p:nvSpPr>
        <p:spPr>
          <a:xfrm>
            <a:off x="1614830" y="962863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Nguyên lý hoạt động</a:t>
            </a:r>
            <a:endParaRPr lang="en-US" sz="1440" dirty="0"/>
          </a:p>
        </p:txBody>
      </p:sp>
      <p:sp>
        <p:nvSpPr>
          <p:cNvPr id="29" name="Text 15"/>
          <p:cNvSpPr/>
          <p:nvPr/>
        </p:nvSpPr>
        <p:spPr>
          <a:xfrm>
            <a:off x="1587398" y="1420063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Tính tổng cộng dồn sai lệch để xác định thay đổi trung bình.</a:t>
            </a:r>
            <a:endParaRPr lang="en-US" sz="1440" dirty="0"/>
          </a:p>
        </p:txBody>
      </p:sp>
      <p:sp>
        <p:nvSpPr>
          <p:cNvPr id="30" name="Text 16"/>
          <p:cNvSpPr/>
          <p:nvPr/>
        </p:nvSpPr>
        <p:spPr>
          <a:xfrm>
            <a:off x="4153205" y="3429000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Lợi ích chính</a:t>
            </a:r>
            <a:endParaRPr lang="en-US" sz="1440" dirty="0"/>
          </a:p>
        </p:txBody>
      </p:sp>
      <p:sp>
        <p:nvSpPr>
          <p:cNvPr id="31" name="Text 17"/>
          <p:cNvSpPr/>
          <p:nvPr/>
        </p:nvSpPr>
        <p:spPr>
          <a:xfrm>
            <a:off x="4124858" y="3896258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Nhạy cảm với thay đổi nhỏ, phát hiện sớm tấn công DoS.</a:t>
            </a:r>
            <a:endParaRPr lang="en-US" sz="1440" dirty="0"/>
          </a:p>
        </p:txBody>
      </p:sp>
      <p:sp>
        <p:nvSpPr>
          <p:cNvPr id="32" name="Text 18"/>
          <p:cNvSpPr/>
          <p:nvPr/>
        </p:nvSpPr>
        <p:spPr>
          <a:xfrm>
            <a:off x="5501945" y="962863"/>
            <a:ext cx="3388766" cy="47640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Hạn chế cần lưu ý</a:t>
            </a:r>
            <a:endParaRPr lang="en-US" sz="1440" dirty="0"/>
          </a:p>
        </p:txBody>
      </p:sp>
      <p:sp>
        <p:nvSpPr>
          <p:cNvPr id="33" name="Text 19"/>
          <p:cNvSpPr/>
          <p:nvPr/>
        </p:nvSpPr>
        <p:spPr>
          <a:xfrm>
            <a:off x="5501945" y="1424635"/>
            <a:ext cx="338876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Dễ sai khi lưu lượng biến động tự nhiên cao.</a:t>
            </a:r>
            <a:endParaRPr lang="en-US" sz="14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Wavelet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4746793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759063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921810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759063">
              <a:alpha val="1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23469" y="1635405"/>
            <a:ext cx="1978872" cy="3185778"/>
          </a:xfrm>
          <a:custGeom>
            <a:avLst/>
            <a:gdLst/>
            <a:ahLst/>
            <a:cxnLst/>
            <a:rect l="l" t="t" r="r" b="b"/>
            <a:pathLst>
              <a:path w="1978872" h="3185778">
                <a:moveTo>
                  <a:pt x="0" y="0"/>
                </a:moveTo>
                <a:moveTo>
                  <a:pt x="0" y="0"/>
                </a:moveTo>
                <a:lnTo>
                  <a:pt x="1978872" y="0"/>
                </a:lnTo>
                <a:lnTo>
                  <a:pt x="1978872" y="3185778"/>
                </a:lnTo>
                <a:lnTo>
                  <a:pt x="0" y="3185778"/>
                </a:lnTo>
                <a:close/>
              </a:path>
            </a:pathLst>
          </a:custGeom>
          <a:solidFill>
            <a:srgbClr val="759063">
              <a:alpha val="1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498485" y="948947"/>
            <a:ext cx="2052164" cy="3872237"/>
          </a:xfrm>
          <a:custGeom>
            <a:avLst/>
            <a:gdLst/>
            <a:ahLst/>
            <a:cxnLst/>
            <a:rect l="l" t="t" r="r" b="b"/>
            <a:pathLst>
              <a:path w="2052164" h="3872237">
                <a:moveTo>
                  <a:pt x="0" y="0"/>
                </a:moveTo>
                <a:moveTo>
                  <a:pt x="0" y="0"/>
                </a:moveTo>
                <a:lnTo>
                  <a:pt x="2052164" y="0"/>
                </a:lnTo>
                <a:lnTo>
                  <a:pt x="2052164" y="3872237"/>
                </a:lnTo>
                <a:lnTo>
                  <a:pt x="0" y="3872237"/>
                </a:ln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7" name="Text 5"/>
          <p:cNvSpPr/>
          <p:nvPr/>
        </p:nvSpPr>
        <p:spPr>
          <a:xfrm>
            <a:off x="2367844" y="993482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8" name="Text 6"/>
          <p:cNvSpPr/>
          <p:nvPr/>
        </p:nvSpPr>
        <p:spPr>
          <a:xfrm>
            <a:off x="458210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9" name="Text 7"/>
          <p:cNvSpPr/>
          <p:nvPr/>
        </p:nvSpPr>
        <p:spPr>
          <a:xfrm>
            <a:off x="181976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23469" y="2455856"/>
            <a:ext cx="197887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Nguyên lý Wavelet</a:t>
            </a:r>
            <a:endParaRPr lang="en-US" sz="1440" dirty="0"/>
          </a:p>
        </p:txBody>
      </p:sp>
      <p:sp>
        <p:nvSpPr>
          <p:cNvPr id="11" name="Text 9"/>
          <p:cNvSpPr/>
          <p:nvPr/>
        </p:nvSpPr>
        <p:spPr>
          <a:xfrm>
            <a:off x="323469" y="2958637"/>
            <a:ext cx="197887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rã tín hiệu theo tần số và thời gian.</a:t>
            </a:r>
            <a:endParaRPr lang="en-US" sz="1440" dirty="0"/>
          </a:p>
        </p:txBody>
      </p:sp>
      <p:sp>
        <p:nvSpPr>
          <p:cNvPr id="12" name="Text 10"/>
          <p:cNvSpPr/>
          <p:nvPr/>
        </p:nvSpPr>
        <p:spPr>
          <a:xfrm>
            <a:off x="2498485" y="1792458"/>
            <a:ext cx="205216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Phân tích thời-tần số</a:t>
            </a:r>
            <a:endParaRPr lang="en-US" sz="1440" dirty="0"/>
          </a:p>
        </p:txBody>
      </p:sp>
      <p:sp>
        <p:nvSpPr>
          <p:cNvPr id="13" name="Text 11"/>
          <p:cNvSpPr/>
          <p:nvPr/>
        </p:nvSpPr>
        <p:spPr>
          <a:xfrm>
            <a:off x="2498485" y="2408479"/>
            <a:ext cx="2052164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Nhận diện mô hình tín hiệu trong miền thời gian và tần số.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4746793" y="2455856"/>
            <a:ext cx="1984552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hiện bất thường</a:t>
            </a:r>
            <a:endParaRPr lang="en-US" sz="1440" dirty="0"/>
          </a:p>
        </p:txBody>
      </p:sp>
      <p:sp>
        <p:nvSpPr>
          <p:cNvPr id="15" name="Text 13"/>
          <p:cNvSpPr/>
          <p:nvPr/>
        </p:nvSpPr>
        <p:spPr>
          <a:xfrm>
            <a:off x="4746793" y="2958637"/>
            <a:ext cx="1984552" cy="81381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Phát hiện dao động bất thường do tấn công DDoS sớm.</a:t>
            </a:r>
            <a:endParaRPr lang="en-US" sz="1440" dirty="0"/>
          </a:p>
        </p:txBody>
      </p:sp>
      <p:sp>
        <p:nvSpPr>
          <p:cNvPr id="16" name="Text 14"/>
          <p:cNvSpPr/>
          <p:nvPr/>
        </p:nvSpPr>
        <p:spPr>
          <a:xfrm>
            <a:off x="6921810" y="2455856"/>
            <a:ext cx="1978872" cy="55778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Ứng dụng trong giám sát</a:t>
            </a:r>
            <a:endParaRPr lang="en-US" sz="1440" dirty="0"/>
          </a:p>
        </p:txBody>
      </p:sp>
      <p:sp>
        <p:nvSpPr>
          <p:cNvPr id="17" name="Text 15"/>
          <p:cNvSpPr/>
          <p:nvPr/>
        </p:nvSpPr>
        <p:spPr>
          <a:xfrm>
            <a:off x="6921810" y="2958637"/>
            <a:ext cx="1978872" cy="102412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Kết hợp với profiling và changepoint để tăng độ chính xác phát hiện.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6812029" y="1746765"/>
            <a:ext cx="952790" cy="73152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880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</p:spTree>
  </p:cSld>
  <p:clrMapOvr>
    <a:masterClrMapping/>
  </p:clrMapOvr>
</p:sld>
</file>

<file path=ppt/slides/slide20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0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Biện pháp</a:t></a:r><a:endParaRPr lang="en-US" sz="1440" dirty="0"/></a:p></p:txBody></p:sp><p:sp><p:nvSpPr><p:cNvPr id="3" name="Shape 1"></p:cNvPr><p:cNvSpPr/><p:nvPr></p:nvPr></p:nvSpPr><p:spPr><a:xfrm><a:off x="3254208" y="1353026"/><a:ext cx="1234570" cy="1234570"/></a:xfrm><a:custGeom><a:avLst /><a:gdLst></a:gdLst><a:ahLst /><a:cxnLst></a:cxnLst><a:rect l="l" t="t" r="r" b="b" /><a:pathLst><a:path w="1234570" h="1234570"><a:moveTo><a:pt x="154321" y="0" /></a:moveTo><a:moveTo><a:pt x="154321" y="0" /></a:moveTo><a:lnTo><a:pt x="1080248" y="0" /></a:lnTo><a:quadBezTo>
									<a:pt x="1234570" y="0" />
									<a:pt x="1234570" y="154321" />
									</a:quadBezTo><a:lnTo><a:pt x="1234570" y="1080248" /></a:lnTo><a:quadBezTo>
									<a:pt x="1234570" y="1234570" />
									<a:pt x="1080248" y="1234570" />
									</a:quadBezTo><a:lnTo><a:pt x="154321" y="1234570" /></a:lnTo><a:quadBezTo>
									<a:pt x="0" y="1234570" />
									<a:pt x="0" y="1080248" />
									</a:quadBezTo><a:lnTo><a:pt x="0" y="154321" /></a:lnTo><a:quadBezTo>
									<a:pt x="0" y="0" />
									<a:pt x="154321" y="0" />
									</a:quadBezTo><a:close /></a:path></a:pathLst></a:custGeom><a:solidFill><a:srgbClr val="819063"/></a:solidFill><a:ln></a:ln></p:spPr></p:sp><p:sp><p:nvSpPr><p:cNvPr id="4" name="Shape 2"></p:cNvPr><p:cNvSpPr/><p:nvPr></p:nvPr></p:nvSpPr><p:spPr><a:xfrm><a:off x="4655222" y="1353026"/><a:ext cx="1234570" cy="1234570"/></a:xfrm><a:custGeom><a:avLst /><a:gdLst></a:gdLst><a:ahLst /><a:cxnLst></a:cxnLst><a:rect l="l" t="t" r="r" b="b" /><a:pathLst><a:path w="1234570" h="1234570"><a:moveTo><a:pt x="154321" y="0" /></a:moveTo><a:moveTo><a:pt x="154321" y="0" /></a:moveTo><a:lnTo><a:pt x="1080248" y="0" /></a:lnTo><a:quadBezTo>
									<a:pt x="1234570" y="0" />
									<a:pt x="1234570" y="154321" />
									</a:quadBezTo><a:lnTo><a:pt x="1234570" y="1080248" /></a:lnTo><a:quadBezTo>
									<a:pt x="1234570" y="1234570" />
									<a:pt x="1080248" y="1234570" />
									</a:quadBezTo><a:lnTo><a:pt x="154321" y="1234570" /></a:lnTo><a:quadBezTo>
									<a:pt x="0" y="1234570" />
									<a:pt x="0" y="1080248" />
									</a:quadBezTo><a:lnTo><a:pt x="0" y="154321" /></a:lnTo><a:quadBezTo>
									<a:pt x="0" y="0" />
									<a:pt x="154321" y="0" />
									</a:quadBezTo><a:close /></a:path></a:pathLst></a:custGeom><a:solidFill><a:srgbClr val="759063"/></a:solidFill><a:ln></a:ln></p:spPr></p:sp><p:sp><p:nvSpPr><p:cNvPr id="5" name="Shape 3"></p:cNvPr><p:cNvSpPr/><p:nvPr></p:nvPr></p:nvSpPr><p:spPr><a:xfrm><a:off x="3254208" y="2738784"/><a:ext cx="1234570" cy="1234570"/></a:xfrm><a:custGeom><a:avLst /><a:gdLst></a:gdLst><a:ahLst /><a:cxnLst></a:cxnLst><a:rect l="l" t="t" r="r" b="b" /><a:pathLst><a:path w="1234570" h="1234570"><a:moveTo><a:pt x="154321" y="0" /></a:moveTo><a:moveTo><a:pt x="154321" y="0" /></a:moveTo><a:lnTo><a:pt x="1080248" y="0" /></a:lnTo><a:quadBezTo>
									<a:pt x="1234570" y="0" />
									<a:pt x="1234570" y="154321" />
									</a:quadBezTo><a:lnTo><a:pt x="1234570" y="1080248" /></a:lnTo><a:quadBezTo>
									<a:pt x="1234570" y="1234570" />
									<a:pt x="1080248" y="1234570" />
									</a:quadBezTo><a:lnTo><a:pt x="154321" y="1234570" /></a:lnTo><a:quadBezTo>
									<a:pt x="0" y="1234570" />
									<a:pt x="0" y="1080248" />
									</a:quadBezTo><a:lnTo><a:pt x="0" y="154321" /></a:lnTo><a:quadBezTo>
									<a:pt x="0" y="0" />
									<a:pt x="154321" y="0" />
									</a:quadBezTo><a:close /></a:path></a:pathLst></a:custGeom><a:solidFill><a:srgbClr val="759063"/></a:solidFill><a:ln></a:ln></p:spPr></p:sp><p:sp><p:nvSpPr><p:cNvPr id="6" name="Shape 4"></p:cNvPr><p:cNvSpPr/><p:nvPr></p:nvPr></p:nvSpPr><p:spPr><a:xfrm><a:off x="4655222" y="2738784"/><a:ext cx="1234570" cy="1234570"/></a:xfrm><a:custGeom><a:avLst /><a:gdLst></a:gdLst><a:ahLst /><a:cxnLst></a:cxnLst><a:rect l="l" t="t" r="r" b="b" /><a:pathLst><a:path w="1234570" h="1234570"><a:moveTo><a:pt x="154321" y="0" /></a:moveTo><a:moveTo><a:pt x="154321" y="0" /></a:moveTo><a:lnTo><a:pt x="1080248" y="0" /></a:lnTo><a:quadBezTo>
									<a:pt x="1234570" y="0" />
									<a:pt x="1234570" y="154321" />
									</a:quadBezTo><a:lnTo><a:pt x="1234570" y="1080248" /></a:lnTo><a:quadBezTo>
									<a:pt x="1234570" y="1234570" />
									<a:pt x="1080248" y="1234570" />
									</a:quadBezTo><a:lnTo><a:pt x="154321" y="1234570" /></a:lnTo><a:quadBezTo>
									<a:pt x="0" y="1234570" />
									<a:pt x="0" y="1080248" />
									</a:quadBezTo><a:lnTo><a:pt x="0" y="154321" /></a:lnTo><a:quadBezTo>
									<a:pt x="0" y="0" />
									<a:pt x="154321" y="0" />
									</a:quadBezTo><a:close /></a:path></a:pathLst></a:custGeom><a:solidFill><a:srgbClr val="819063"/></a:solidFill><a:ln></a:ln></p:spPr></p:sp><p:pic>  <p:nvPicPr><p:cNvPr id="7" name="Image 0" descr="preencoded.png">    </p:cNvPr>    <p:cNvPicPr><a:picLocks noChangeAspect="1"/></p:cNvPicPr>    <p:nvPr></p:nvPr>  </p:nvPicPr><p:blipFill><a:blip r:embed="rId2"></a:blip>  <a:stretch><a:fillRect/></a:stretch></p:blipFill><p:spPr> <a:xfrm>  <a:off x="4941752" y="1662154"/>  <a:ext cx="661510" cy="616314"/> </a:xfrm> <a:prstGeom prst="rect"><a:avLst/></a:prstGeom></p:spPr></p:pic><p:pic>  <p:nvPicPr><p:cNvPr id="8" name="Image 1" descr="preencoded.png">    </p:cNvPr>    <p:cNvPicPr><a:picLocks noChangeAspect="1"/></p:cNvPicPr>    <p:nvPr></p:nvPr>  </p:nvPicPr><p:blipFill><a:blip r:embed="rId3"></a:blip>  <a:stretch><a:fillRect/></a:stretch></p:blipFill><p:spPr> <a:xfrm>  <a:off x="3558147" y="3042722"/>  <a:ext cx="626693" cy="626693"/> </a:xfrm> <a:prstGeom prst="rect"><a:avLst/></a:prstGeom></p:spPr></p:pic><p:pic>  <p:nvPicPr><p:cNvPr id="9" name="Image 2" descr="preencoded.png">    </p:cNvPr>    <p:cNvPicPr><a:picLocks noChangeAspect="1"/></p:cNvPicPr>    <p:nvPr></p:nvPr>  </p:nvPicPr><p:blipFill><a:blip r:embed="rId4"></a:blip>  <a:stretch><a:fillRect/></a:stretch></p:blipFill><p:spPr> <a:xfrm>  <a:off x="4925758" y="3009320"/>  <a:ext cx="693498" cy="693498"/> </a:xfrm> <a:prstGeom prst="rect"><a:avLst/></a:prstGeom></p:spPr></p:pic><p:pic>  <p:nvPicPr><p:cNvPr id="10" name="Image 3" descr="preencoded.png">    </p:cNvPr>    <p:cNvPicPr><a:picLocks noChangeAspect="1"/></p:cNvPicPr>    <p:nvPr></p:nvPr>  </p:nvPicPr><p:blipFill><a:blip r:embed="rId5"></a:blip>  <a:stretch><a:fillRect/></a:stretch></p:blipFill><p:spPr> <a:xfrm>  <a:off x="3565315" y="1664451"/>  <a:ext cx="612357" cy="611720"/> </a:xfrm> <a:prstGeom prst="rect"><a:avLst/></a:prstGeom></p:spPr></p:pic><p:sp><p:nvSpPr><p:cNvPr id="11" name="Text 5"></p:cNvPr><p:cNvSpPr/><p:nvPr></p:nvPr></p:nvSpPr><p:spPr><a:xfrm><a:off x="258693" y="93911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Hấp thụ tấn công</a:t></a:r><a:endParaRPr lang="en-US" sz="1440" dirty="0"/></a:p></p:txBody></p:sp><p:sp><p:nvSpPr><p:cNvPr id="12" name="Text 6"></p:cNvPr><p:cNvSpPr/><p:nvPr></p:nvPr></p:nvSpPr><p:spPr><a:xfrm><a:off x="253537" y="1370708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Dự phòng băng thông và scrubbing để hấp thụ lưu lượng độc hại.</a:t></a:r><a:endParaRPr lang="en-US" sz="1440" dirty="0"/></a:p></p:txBody></p:sp><p:sp><p:nvSpPr><p:cNvPr id="13" name="Text 7"></p:cNvPr><p:cNvSpPr/><p:nvPr></p:nvPr></p:nvSpPr><p:spPr><a:xfrm><a:off x="6002866" y="939111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Lọc Egress/Ingress</a:t></a:r><a:endParaRPr lang="en-US" sz="1440" dirty="0"/></a:p></p:txBody></p:sp><p:sp><p:nvSpPr><p:cNvPr id="14" name="Text 8"></p:cNvPr><p:cNvSpPr/><p:nvPr></p:nvPr></p:nvSpPr><p:spPr><a:xfrm><a:off x="6002866" y="1370686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Chặn gói tin giả mạo tại biên mạng, giảm lưu lượng tấn công phản chiếu.</a:t></a:r><a:endParaRPr lang="en-US" sz="1440" dirty="0"/></a:p></p:txBody></p:sp><p:sp><p:nvSpPr><p:cNvPr id="15" name="Text 9"></p:cNvPr><p:cNvSpPr/><p:nvPr></p:nvPr></p:nvSpPr><p:spPr><a:xfrm><a:off x="258693" y="317116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Xác thực TCP</a:t></a:r><a:endParaRPr lang="en-US" sz="1440" dirty="0"/></a:p></p:txBody></p:sp><p:sp><p:nvSpPr><p:cNvPr id="16" name="Text 10"></p:cNvPr><p:cNvSpPr/><p:nvPr></p:nvPr></p:nvSpPr><p:spPr><a:xfrm><a:off x="253537" y="3595443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TCP Intercept xác thực kết nối, ngăn SYN flood và lấp đầy bảng kết nối.</a:t></a:r><a:endParaRPr lang="en-US" sz="1440" dirty="0"/></a:p></p:txBody></p:sp><p:sp><p:nvSpPr><p:cNvPr id="17" name="Text 11"></p:cNvPr><p:cNvSpPr/><p:nvPr></p:nvPr></p:nvSpPr><p:spPr><a:xfrm><a:off x="6002866" y="3171139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Cân bằng &amp; Giới hạn</a:t></a:r><a:endParaRPr lang="en-US" sz="1440" dirty="0"/></a:p></p:txBody></p:sp><p:sp><p:nvSpPr><p:cNvPr id="18" name="Text 12"></p:cNvPr><p:cNvSpPr/><p:nvPr></p:nvPr></p:nvSpPr><p:spPr><a:xfrm><a:off x="6002866" y="3595443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Load balancing và throttling phân tải, giới hạn tốc độ để duy trì dịch vụ.</a:t></a:r><a:endParaRPr lang="en-US" sz="1440" dirty="0"/></a:p></p:txBody></p:sp></p:spTree></p:cSld><p:clrMapOvr><a:masterClrMapping/></p:clrMapOvr></p:sld>
</file>

<file path=ppt/slides/slide21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21"><p:bg><p:bgPr><a:blipFill dpi="0" rotWithShape="1"><a:blip r:embed="rId1"><a:lum/></a:blip><a:srcRect/><a:stretch><a:fillRect/></a:stretch></a:blipFill><a:effectLst/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327701" y="202494"/><a:ext cx="8488598" cy="512064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12500"/></a:lnSpc><a:spcBef><a:spcPts val="375"/></a:spcBef><a:buNone/></a:pPr><a:r><a:rPr lang="en-US" sz="1728" b="1" dirty="0"><a:solidFill><a:srgbClr val="00070F"/></a:solidFill><a:latin typeface="Noto Sans" pitchFamily="34" charset="0"/><a:ea typeface="Noto Sans" pitchFamily="34" charset="-122"/><a:cs typeface="Noto Sans" pitchFamily="34" charset="-120"/></a:rPr><a:t>Công cụ</a:t></a:r><a:endParaRPr lang="en-US" sz="1440" dirty="0"/></a:p></p:txBody></p:sp><p:pic>  <p:nvPicPr><p:cNvPr id="3" name="Image 0" descr="preencoded.png">    </p:cNvPr>    <p:cNvPicPr><a:picLocks noChangeAspect="1"/></p:cNvPicPr>    <p:nvPr></p:nvPr>  </p:nvPicPr><p:blipFill><a:blip r:embed="rId2"></a:blip>  <a:stretch><a:fillRect/></a:stretch></p:blipFill><p:spPr> <a:xfrm rot="-10800000">  <a:off x="4690102" y="2386557"/>  <a:ext cx="1279870" cy="1279870"/> </a:xfrm> <a:prstGeom prst="rect"><a:avLst/></a:prstGeom></p:spPr></p:pic><p:pic>  <p:nvPicPr><p:cNvPr id="4" name="Image 1" descr="preencoded.png">    </p:cNvPr>    <p:cNvPicPr><a:picLocks noChangeAspect="1"/></p:cNvPicPr>    <p:nvPr></p:nvPr>  </p:nvPicPr><p:blipFill><a:blip r:embed="rId3"></a:blip>  <a:stretch><a:fillRect/></a:stretch></p:blipFill><p:spPr> <a:xfrm rot="-5400000">  <a:off x="3458141" y="2726641"/>  <a:ext cx="1296296" cy="1296296"/> </a:xfrm> <a:prstGeom prst="rect"><a:avLst/></a:prstGeom></p:spPr></p:pic><p:pic>  <p:nvPicPr><p:cNvPr id="5" name="Image 2" descr="preencoded.png">    </p:cNvPr>    <p:cNvPicPr><a:picLocks noChangeAspect="1"/></p:cNvPicPr>    <p:nvPr></p:nvPr>  </p:nvPicPr><p:blipFill><a:blip r:embed="rId4"></a:blip>  <a:stretch><a:fillRect/></a:stretch></p:blipFill><p:spPr> <a:xfrm>  <a:off x="3174028" y="1507894"/>  <a:ext cx="1247019" cy="1258243"/> </a:xfrm> <a:prstGeom prst="rect"><a:avLst/></a:prstGeom></p:spPr></p:pic><p:pic>  <p:nvPicPr><p:cNvPr id="6" name="Image 3" descr="preencoded.png">    </p:cNvPr>    <p:cNvPicPr><a:picLocks noChangeAspect="1"/></p:cNvPicPr>    <p:nvPr></p:nvPr>  </p:nvPicPr><p:blipFill><a:blip r:embed="rId5"></a:blip>  <a:stretch><a:fillRect/></a:stretch></p:blipFill><p:spPr> <a:xfrm rot="5400000">  <a:off x="4319820" y="1120563"/>  <a:ext cx="1263445" cy="1263445"/> </a:xfrm> <a:prstGeom prst="rect"><a:avLst/></a:prstGeom></p:spPr></p:pic><p:sp><p:nvSpPr><p:cNvPr id="7" name="Text 1"></p:cNvPr><p:cNvSpPr/><p:nvPr></p:nvPr></p:nvSpPr><p:spPr><a:xfrm rot="5400000"><a:off x="4319820" y="1120563"/><a:ext cx="1263445" cy="1263445"/></a:xfrm><a:prstGeom prst="rect"><a:avLst></a:avLst></a:prstGeom><a:noFill/><a:ln></a:ln></p:spPr><p:txBody><a:bodyPr wrap="square" rtlCol="0" anchor="ctr"></a:bodyPr><a:lstStyle/><a:p><a:pPr indent="0" marL="0"><a:spcBef><a:spcPts val="375"/></a:spcBef><a:buNone/></a:pPr><a:endParaRPr lang="en-US" sz="1440" dirty="0"/></a:p></p:txBody></p:sp><p:sp><p:nvSpPr><p:cNvPr id="8" name="Text 2"></p:cNvPr><p:cNvSpPr/><p:nvPr></p:nvPr></p:nvSpPr><p:spPr><a:xfrm><a:off x="258693" y="93911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Công cụ tấn công chính</a:t></a:r><a:endParaRPr lang="en-US" sz="1440" dirty="0"/></a:p></p:txBody></p:sp><p:sp><p:nvSpPr><p:cNvPr id="9" name="Text 3"></p:cNvPr><p:cNvSpPr/><p:nvPr></p:nvPr></p:nvSpPr><p:spPr><a:xfrm><a:off x="253537" y="1370708"/><a:ext cx="2838893" cy="603504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LOIC, HOIC, HULK, PyLoris, Pandora, AnDOSid.</a:t></a:r><a:endParaRPr lang="en-US" sz="1440" dirty="0"/></a:p></p:txBody></p:sp><p:sp><p:nvSpPr><p:cNvPr id="10" name="Text 4"></p:cNvPr><p:cNvSpPr/><p:nvPr></p:nvPr></p:nvSpPr><p:spPr><a:xfrm><a:off x="6002866" y="939111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Đặc điểm LOIC &amp; HOIC</a:t></a:r><a:endParaRPr lang="en-US" sz="1440" dirty="0"/></a:p></p:txBody></p:sp><p:sp><p:nvSpPr><p:cNvPr id="11" name="Text 5"></p:cNvPr><p:cNvSpPr/><p:nvPr></p:nvPr></p:nvSpPr><p:spPr><a:xfrm><a:off x="6002866" y="1370686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LOIC: HTTP/TCP/UDP flood phổ biến; HOIC: DDoS đa mục tiêu, có booster.</a:t></a:r><a:endParaRPr lang="en-US" sz="1440" dirty="0"/></a:p></p:txBody></p:sp><p:sp><p:nvSpPr><p:cNvPr id="12" name="Text 6"></p:cNvPr><p:cNvSpPr/><p:nvPr></p:nvPr></p:nvSpPr><p:spPr><a:xfrm><a:off x="258693" y="3171161"/><a:ext cx="2833736" cy="393192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HULK và PyLoris</a:t></a:r><a:endParaRPr lang="en-US" sz="1440" dirty="0"/></a:p></p:txBody></p:sp><p:sp><p:nvSpPr><p:cNvPr id="13" name="Text 7"></p:cNvPr><p:cNvSpPr/><p:nvPr></p:nvPr></p:nvSpPr><p:spPr><a:xfrm><a:off x="253537" y="3595443"/><a:ext cx="2838893" cy="813816"/></a:xfrm><a:prstGeom prst="rect"><a:avLst></a:avLst></a:prstGeom><a:noFill/><a:ln></a:ln></p:spPr><p:txBody><a:bodyPr wrap="square" lIns="95250" tIns="95250" rIns="95250" bIns="95250" rtlCol="0" anchor="t"><a:spAutoFit/></a:bodyPr><a:lstStyle/><a:p><a:pPr algn="r"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HULK tránh cache, tạo request duy nhất; PyLoris gây SYN flood.</a:t></a:r><a:endParaRPr lang="en-US" sz="1440" dirty="0"/></a:p></p:txBody></p:sp><p:sp><p:nvSpPr><p:cNvPr id="14" name="Text 8"></p:cNvPr><p:cNvSpPr/><p:nvPr></p:nvPr></p:nvSpPr><p:spPr><a:xfrm><a:off x="6002866" y="3171139"/><a:ext cx="2874389" cy="393192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296" b="1" dirty="0"><a:solidFill><a:srgbClr val="819063"/></a:solidFill><a:latin typeface="Noto Sans" pitchFamily="34" charset="0"/><a:ea typeface="Noto Sans" pitchFamily="34" charset="-122"/><a:cs typeface="Noto Sans" pitchFamily="34" charset="-120"/></a:rPr><a:t>Pandora và AnDOSid</a:t></a:r><a:endParaRPr lang="en-US" sz="1440" dirty="0"/></a:p></p:txBody></p:sp><p:sp><p:nvSpPr><p:cNvPr id="15" name="Text 9"></p:cNvPr><p:cNvSpPr/><p:nvPr></p:nvPr></p:nvSpPr><p:spPr><a:xfrm><a:off x="6002866" y="3595443"/><a:ext cx="2869730" cy="813816"/></a:xfrm><a:prstGeom prst="rect"><a:avLst></a:avLst></a:prstGeom><a:noFill/><a:ln></a:ln></p:spPr><p:txBody><a:bodyPr wrap="square" lIns="95250" tIns="95250" rIns="95250" bIns="95250" rtlCol="0" anchor="t"><a:spAutoFit/></a:bodyPr><a:lstStyle/><a:p><a:pPr indent="0" marL="0"><a:lnSpc><a:spcPct val="100000"/></a:lnSpc><a:spcBef><a:spcPts val="375"/></a:spcBef><a:buNone/></a:pPr><a:r><a:rPr lang="en-US" sz="1440" dirty="0"><a:solidFill><a:srgbClr val="00070F"/></a:solidFill><a:latin typeface="&quot" pitchFamily="34" charset="0"/><a:ea typeface="&quot" pitchFamily="34" charset="-122"/><a:cs typeface="&quot" pitchFamily="34" charset="-120"/></a:rPr><a:t>Pandora: toolkit nhiều chế độ tấn công; AnDOSid tấn công từ Android.</a:t></a:r><a:endParaRPr lang="en-US" sz="1440" dirty="0"/></a:p></p:txBody></p:sp></p:spTree></p:cSld><p:clrMapOvr><a:masterClrMapping/></p:clrMapOvr>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 thử</a:t>
            </a:r>
            <a:endParaRPr lang="en-US" sz="144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233" y="975354"/>
            <a:ext cx="8310536" cy="75982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6119" y="113562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233" y="1919994"/>
            <a:ext cx="7871265" cy="75982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416119" y="2080269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233" y="2864634"/>
            <a:ext cx="7408249" cy="75982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16119" y="302490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233" y="3809274"/>
            <a:ext cx="6957106" cy="7598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416119" y="3969548"/>
            <a:ext cx="2746770" cy="439271"/>
          </a:xfrm>
          <a:custGeom>
            <a:avLst/>
            <a:gdLst/>
            <a:ahLst/>
            <a:cxnLst/>
            <a:rect l="l" t="t" r="r" b="b"/>
            <a:pathLst>
              <a:path w="2746770" h="439271">
                <a:moveTo>
                  <a:pt x="236350" y="0"/>
                </a:moveTo>
                <a:moveTo>
                  <a:pt x="236350" y="0"/>
                </a:moveTo>
                <a:lnTo>
                  <a:pt x="2510420" y="0"/>
                </a:lnTo>
                <a:quadBezTo>
                  <a:pt x="2746770" y="0"/>
                  <a:pt x="2746770" y="219636"/>
                </a:quadBezTo>
                <a:lnTo>
                  <a:pt x="2746770" y="219636"/>
                </a:lnTo>
                <a:quadBezTo>
                  <a:pt x="2746770" y="439271"/>
                  <a:pt x="2510420" y="439271"/>
                </a:quadBezTo>
                <a:lnTo>
                  <a:pt x="236350" y="439271"/>
                </a:lnTo>
                <a:quadBezTo>
                  <a:pt x="0" y="439271"/>
                  <a:pt x="0" y="219636"/>
                </a:quadBezTo>
                <a:lnTo>
                  <a:pt x="0" y="219636"/>
                </a:lnTo>
                <a:quadBezTo>
                  <a:pt x="0" y="0"/>
                  <a:pt x="236350" y="0"/>
                </a:quadBez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1" name="Text 5"/>
          <p:cNvSpPr/>
          <p:nvPr/>
        </p:nvSpPr>
        <p:spPr>
          <a:xfrm>
            <a:off x="473529" y="113562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 định mục tiêu</a:t>
            </a:r>
            <a:endParaRPr lang="en-US" sz="1440" dirty="0"/>
          </a:p>
        </p:txBody>
      </p:sp>
      <p:sp>
        <p:nvSpPr>
          <p:cNvPr id="12" name="Text 6"/>
          <p:cNvSpPr/>
          <p:nvPr/>
        </p:nvSpPr>
        <p:spPr>
          <a:xfrm>
            <a:off x="3274579" y="1034943"/>
            <a:ext cx="5032376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Xác định phạm vi và hệ thống cần kiểm thử, mục tiêu ưu tiên.</a:t>
            </a:r>
            <a:endParaRPr lang="en-US" sz="1440" dirty="0"/>
          </a:p>
        </p:txBody>
      </p:sp>
      <p:sp>
        <p:nvSpPr>
          <p:cNvPr id="13" name="Text 7"/>
          <p:cNvSpPr/>
          <p:nvPr/>
        </p:nvSpPr>
        <p:spPr>
          <a:xfrm>
            <a:off x="473529" y="2080269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Kiểm tra tải nặng</a:t>
            </a:r>
            <a:endParaRPr lang="en-US" sz="1440" dirty="0"/>
          </a:p>
        </p:txBody>
      </p:sp>
      <p:sp>
        <p:nvSpPr>
          <p:cNvPr id="14" name="Text 8"/>
          <p:cNvSpPr/>
          <p:nvPr/>
        </p:nvSpPr>
        <p:spPr>
          <a:xfrm>
            <a:off x="3274579" y="1979583"/>
            <a:ext cx="4581275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Dùng JMeter hoặc công cụ stress để mô phỏng lưu lượng và tải thực tế.</a:t>
            </a:r>
            <a:endParaRPr lang="en-US" sz="1440" dirty="0"/>
          </a:p>
        </p:txBody>
      </p:sp>
      <p:sp>
        <p:nvSpPr>
          <p:cNvPr id="15" name="Text 9"/>
          <p:cNvSpPr/>
          <p:nvPr/>
        </p:nvSpPr>
        <p:spPr>
          <a:xfrm>
            <a:off x="473529" y="3050410"/>
            <a:ext cx="2689360" cy="41377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Quét lỗ hổng</a:t>
            </a:r>
            <a:endParaRPr lang="en-US" sz="1440" dirty="0"/>
          </a:p>
        </p:txBody>
      </p:sp>
      <p:sp>
        <p:nvSpPr>
          <p:cNvPr id="16" name="Text 10"/>
          <p:cNvSpPr/>
          <p:nvPr/>
        </p:nvSpPr>
        <p:spPr>
          <a:xfrm>
            <a:off x="3274579" y="2924223"/>
            <a:ext cx="4107039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Sử dụng Nmap, Nessus để phát hiện điểm yếu và cấu hình sai.</a:t>
            </a:r>
            <a:endParaRPr lang="en-US" sz="1440" dirty="0"/>
          </a:p>
        </p:txBody>
      </p:sp>
      <p:sp>
        <p:nvSpPr>
          <p:cNvPr id="17" name="Text 11"/>
          <p:cNvSpPr/>
          <p:nvPr/>
        </p:nvSpPr>
        <p:spPr>
          <a:xfrm>
            <a:off x="473529" y="3969548"/>
            <a:ext cx="2689360" cy="43927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Thực hiện tấn công</a:t>
            </a:r>
            <a:endParaRPr lang="en-US" sz="1440" dirty="0"/>
          </a:p>
        </p:txBody>
      </p:sp>
      <p:sp>
        <p:nvSpPr>
          <p:cNvPr id="18" name="Text 12"/>
          <p:cNvSpPr/>
          <p:nvPr/>
        </p:nvSpPr>
        <p:spPr>
          <a:xfrm>
            <a:off x="3274579" y="3868863"/>
            <a:ext cx="3852572" cy="6035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Triển khai SYN Flood, Port Flood, Email Bomber trong môi trường kiểm thử.</a:t>
            </a:r>
            <a:endParaRPr lang="en-US" sz="144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165" y="2817537"/>
            <a:ext cx="1645602" cy="185130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701" y="202494"/>
            <a:ext cx="8488598" cy="51206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1728" b="1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Ghi chép</a:t>
            </a:r>
            <a:endParaRPr lang="en-US" sz="1440" dirty="0"/>
          </a:p>
        </p:txBody>
      </p:sp>
      <p:sp>
        <p:nvSpPr>
          <p:cNvPr id="3" name="Shape 1"/>
          <p:cNvSpPr/>
          <p:nvPr/>
        </p:nvSpPr>
        <p:spPr>
          <a:xfrm>
            <a:off x="246080" y="1150900"/>
            <a:ext cx="2063154" cy="3520929"/>
          </a:xfrm>
          <a:custGeom>
            <a:avLst/>
            <a:gdLst/>
            <a:ahLst/>
            <a:cxnLst/>
            <a:rect l="l" t="t" r="r" b="b"/>
            <a:pathLst>
              <a:path w="2063154" h="3520929">
                <a:moveTo>
                  <a:pt x="0" y="0"/>
                </a:moveTo>
                <a:moveTo>
                  <a:pt x="0" y="0"/>
                </a:moveTo>
                <a:lnTo>
                  <a:pt x="2063154" y="0"/>
                </a:lnTo>
                <a:lnTo>
                  <a:pt x="2063154" y="3520929"/>
                </a:lnTo>
                <a:lnTo>
                  <a:pt x="0" y="3520929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81906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39813" y="1017993"/>
            <a:ext cx="2075688" cy="585216"/>
          </a:xfrm>
          <a:custGeom>
            <a:avLst/>
            <a:gdLst/>
            <a:ahLst/>
            <a:cxnLst/>
            <a:rect l="l" t="t" r="r" b="b"/>
            <a:pathLst>
              <a:path w="2075688" h="585216">
                <a:moveTo>
                  <a:pt x="0" y="0"/>
                </a:moveTo>
                <a:moveTo>
                  <a:pt x="0" y="0"/>
                </a:moveTo>
                <a:lnTo>
                  <a:pt x="2075688" y="0"/>
                </a:lnTo>
                <a:lnTo>
                  <a:pt x="2075688" y="585216"/>
                </a:lnTo>
                <a:lnTo>
                  <a:pt x="0" y="585216"/>
                </a:ln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5" name="Text 3"/>
          <p:cNvSpPr/>
          <p:nvPr/>
        </p:nvSpPr>
        <p:spPr>
          <a:xfrm>
            <a:off x="246080" y="3954632"/>
            <a:ext cx="63512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1</a:t>
            </a:r>
            <a:endParaRPr lang="en-US" sz="1440" dirty="0"/>
          </a:p>
        </p:txBody>
      </p:sp>
      <p:sp>
        <p:nvSpPr>
          <p:cNvPr id="6" name="Text 4"/>
          <p:cNvSpPr/>
          <p:nvPr/>
        </p:nvSpPr>
        <p:spPr>
          <a:xfrm>
            <a:off x="1668379" y="3788613"/>
            <a:ext cx="479266" cy="78781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endParaRPr lang="en-US" sz="1440" dirty="0"/>
          </a:p>
        </p:txBody>
      </p:sp>
      <p:sp>
        <p:nvSpPr>
          <p:cNvPr id="7" name="Shape 5"/>
          <p:cNvSpPr/>
          <p:nvPr/>
        </p:nvSpPr>
        <p:spPr>
          <a:xfrm>
            <a:off x="2436125" y="1150900"/>
            <a:ext cx="2063154" cy="3520929"/>
          </a:xfrm>
          <a:custGeom>
            <a:avLst/>
            <a:gdLst/>
            <a:ahLst/>
            <a:cxnLst/>
            <a:rect l="l" t="t" r="r" b="b"/>
            <a:pathLst>
              <a:path w="2063154" h="3520929">
                <a:moveTo>
                  <a:pt x="0" y="0"/>
                </a:moveTo>
                <a:moveTo>
                  <a:pt x="0" y="0"/>
                </a:moveTo>
                <a:lnTo>
                  <a:pt x="2063154" y="0"/>
                </a:lnTo>
                <a:lnTo>
                  <a:pt x="2063154" y="3520929"/>
                </a:lnTo>
                <a:lnTo>
                  <a:pt x="0" y="3520929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590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36202" y="1017993"/>
            <a:ext cx="2075688" cy="585216"/>
          </a:xfrm>
          <a:custGeom>
            <a:avLst/>
            <a:gdLst/>
            <a:ahLst/>
            <a:cxnLst/>
            <a:rect l="l" t="t" r="r" b="b"/>
            <a:pathLst>
              <a:path w="2075688" h="585216">
                <a:moveTo>
                  <a:pt x="0" y="0"/>
                </a:moveTo>
                <a:moveTo>
                  <a:pt x="0" y="0"/>
                </a:moveTo>
                <a:lnTo>
                  <a:pt x="2075688" y="0"/>
                </a:lnTo>
                <a:lnTo>
                  <a:pt x="2075688" y="585216"/>
                </a:lnTo>
                <a:lnTo>
                  <a:pt x="0" y="585216"/>
                </a:lnTo>
                <a:close/>
              </a:path>
            </a:pathLst>
          </a:custGeom>
          <a:solidFill>
            <a:srgbClr val="759063"/>
          </a:solidFill>
          <a:ln/>
        </p:spPr>
      </p:sp>
      <p:sp>
        <p:nvSpPr>
          <p:cNvPr id="9" name="Text 7"/>
          <p:cNvSpPr/>
          <p:nvPr/>
        </p:nvSpPr>
        <p:spPr>
          <a:xfrm>
            <a:off x="2442267" y="3954632"/>
            <a:ext cx="63512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2</a:t>
            </a:r>
            <a:endParaRPr lang="en-US" sz="1440" dirty="0"/>
          </a:p>
        </p:txBody>
      </p:sp>
      <p:sp>
        <p:nvSpPr>
          <p:cNvPr id="10" name="Text 8"/>
          <p:cNvSpPr/>
          <p:nvPr/>
        </p:nvSpPr>
        <p:spPr>
          <a:xfrm>
            <a:off x="3864565" y="3788613"/>
            <a:ext cx="479266" cy="78781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endParaRPr lang="en-US" sz="1440" dirty="0"/>
          </a:p>
        </p:txBody>
      </p:sp>
      <p:sp>
        <p:nvSpPr>
          <p:cNvPr id="11" name="Shape 9"/>
          <p:cNvSpPr/>
          <p:nvPr/>
        </p:nvSpPr>
        <p:spPr>
          <a:xfrm>
            <a:off x="4632312" y="1150900"/>
            <a:ext cx="2063154" cy="3520929"/>
          </a:xfrm>
          <a:custGeom>
            <a:avLst/>
            <a:gdLst/>
            <a:ahLst/>
            <a:cxnLst/>
            <a:rect l="l" t="t" r="r" b="b"/>
            <a:pathLst>
              <a:path w="2063154" h="3520929">
                <a:moveTo>
                  <a:pt x="0" y="0"/>
                </a:moveTo>
                <a:moveTo>
                  <a:pt x="0" y="0"/>
                </a:moveTo>
                <a:lnTo>
                  <a:pt x="2063154" y="0"/>
                </a:lnTo>
                <a:lnTo>
                  <a:pt x="2063154" y="3520929"/>
                </a:lnTo>
                <a:lnTo>
                  <a:pt x="0" y="3520929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81906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32312" y="1017993"/>
            <a:ext cx="2075688" cy="585216"/>
          </a:xfrm>
          <a:custGeom>
            <a:avLst/>
            <a:gdLst/>
            <a:ahLst/>
            <a:cxnLst/>
            <a:rect l="l" t="t" r="r" b="b"/>
            <a:pathLst>
              <a:path w="2075688" h="585216">
                <a:moveTo>
                  <a:pt x="0" y="0"/>
                </a:moveTo>
                <a:moveTo>
                  <a:pt x="0" y="0"/>
                </a:moveTo>
                <a:lnTo>
                  <a:pt x="2075688" y="0"/>
                </a:lnTo>
                <a:lnTo>
                  <a:pt x="2075688" y="585216"/>
                </a:lnTo>
                <a:lnTo>
                  <a:pt x="0" y="585216"/>
                </a:lnTo>
                <a:close/>
              </a:path>
            </a:pathLst>
          </a:custGeom>
          <a:solidFill>
            <a:srgbClr val="819063"/>
          </a:solidFill>
          <a:ln/>
        </p:spPr>
      </p:sp>
      <p:sp>
        <p:nvSpPr>
          <p:cNvPr id="13" name="Text 11"/>
          <p:cNvSpPr/>
          <p:nvPr/>
        </p:nvSpPr>
        <p:spPr>
          <a:xfrm>
            <a:off x="4638454" y="3954632"/>
            <a:ext cx="63512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3</a:t>
            </a:r>
            <a:endParaRPr lang="en-US" sz="1440" dirty="0"/>
          </a:p>
        </p:txBody>
      </p:sp>
      <p:sp>
        <p:nvSpPr>
          <p:cNvPr id="14" name="Text 12"/>
          <p:cNvSpPr/>
          <p:nvPr/>
        </p:nvSpPr>
        <p:spPr>
          <a:xfrm>
            <a:off x="6060752" y="3788613"/>
            <a:ext cx="479266" cy="78781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endParaRPr lang="en-US" sz="1440" dirty="0"/>
          </a:p>
        </p:txBody>
      </p:sp>
      <p:sp>
        <p:nvSpPr>
          <p:cNvPr id="15" name="Shape 13"/>
          <p:cNvSpPr/>
          <p:nvPr/>
        </p:nvSpPr>
        <p:spPr>
          <a:xfrm>
            <a:off x="6828499" y="1150900"/>
            <a:ext cx="2063154" cy="3520929"/>
          </a:xfrm>
          <a:custGeom>
            <a:avLst/>
            <a:gdLst/>
            <a:ahLst/>
            <a:cxnLst/>
            <a:rect l="l" t="t" r="r" b="b"/>
            <a:pathLst>
              <a:path w="2063154" h="3520929">
                <a:moveTo>
                  <a:pt x="0" y="0"/>
                </a:moveTo>
                <a:moveTo>
                  <a:pt x="0" y="0"/>
                </a:moveTo>
                <a:lnTo>
                  <a:pt x="2063154" y="0"/>
                </a:lnTo>
                <a:lnTo>
                  <a:pt x="2063154" y="3520929"/>
                </a:lnTo>
                <a:lnTo>
                  <a:pt x="0" y="3520929"/>
                </a:lnTo>
                <a:close/>
              </a:path>
            </a:pathLst>
          </a:custGeom>
          <a:solidFill>
            <a:srgbClr val="FFFFFF"/>
          </a:solidFill>
          <a:ln w="9525">
            <a:solidFill>
              <a:srgbClr val="75906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28499" y="1017993"/>
            <a:ext cx="2075688" cy="585216"/>
          </a:xfrm>
          <a:custGeom>
            <a:avLst/>
            <a:gdLst/>
            <a:ahLst/>
            <a:cxnLst/>
            <a:rect l="l" t="t" r="r" b="b"/>
            <a:pathLst>
              <a:path w="2075688" h="585216">
                <a:moveTo>
                  <a:pt x="0" y="0"/>
                </a:moveTo>
                <a:moveTo>
                  <a:pt x="0" y="0"/>
                </a:moveTo>
                <a:lnTo>
                  <a:pt x="2075688" y="0"/>
                </a:lnTo>
                <a:lnTo>
                  <a:pt x="2075688" y="585216"/>
                </a:lnTo>
                <a:lnTo>
                  <a:pt x="0" y="585216"/>
                </a:lnTo>
                <a:close/>
              </a:path>
            </a:pathLst>
          </a:custGeom>
          <a:solidFill>
            <a:srgbClr val="759063"/>
          </a:solidFill>
          <a:ln/>
        </p:spPr>
      </p:sp>
      <p:sp>
        <p:nvSpPr>
          <p:cNvPr id="17" name="Text 15"/>
          <p:cNvSpPr/>
          <p:nvPr/>
        </p:nvSpPr>
        <p:spPr>
          <a:xfrm>
            <a:off x="6834641" y="3954632"/>
            <a:ext cx="635122" cy="621792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2304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4</a:t>
            </a:r>
            <a:endParaRPr lang="en-US" sz="1440" dirty="0"/>
          </a:p>
        </p:txBody>
      </p:sp>
      <p:sp>
        <p:nvSpPr>
          <p:cNvPr id="18" name="Text 16"/>
          <p:cNvSpPr/>
          <p:nvPr/>
        </p:nvSpPr>
        <p:spPr>
          <a:xfrm>
            <a:off x="8256939" y="3788613"/>
            <a:ext cx="479266" cy="787811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/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320" b="1" dirty="0">
                <a:solidFill>
                  <a:srgbClr val="75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·</a:t>
            </a:r>
            <a:endParaRPr lang="en-US" sz="1440" dirty="0"/>
          </a:p>
        </p:txBody>
      </p:sp>
      <p:sp>
        <p:nvSpPr>
          <p:cNvPr id="19" name="Text 17"/>
          <p:cNvSpPr/>
          <p:nvPr/>
        </p:nvSpPr>
        <p:spPr>
          <a:xfrm>
            <a:off x="246080" y="1127943"/>
            <a:ext cx="206315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Khái niệm DoS/DDoS</a:t>
            </a:r>
            <a:endParaRPr lang="en-US" sz="1440" dirty="0"/>
          </a:p>
        </p:txBody>
      </p:sp>
      <p:sp>
        <p:nvSpPr>
          <p:cNvPr id="20" name="Text 18"/>
          <p:cNvSpPr/>
          <p:nvPr/>
        </p:nvSpPr>
        <p:spPr>
          <a:xfrm>
            <a:off x="246080" y="1645982"/>
            <a:ext cx="2063154" cy="1060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Ngăn truy cập dịch vụ bằng tràn lưu lượng hoặc làm cạn tài nguyên hệ thống.</a:t>
            </a:r>
            <a:endParaRPr lang="en-US" sz="1440" dirty="0"/>
          </a:p>
        </p:txBody>
      </p:sp>
      <p:sp>
        <p:nvSpPr>
          <p:cNvPr id="21" name="Text 19"/>
          <p:cNvSpPr/>
          <p:nvPr/>
        </p:nvSpPr>
        <p:spPr>
          <a:xfrm>
            <a:off x="2436125" y="1127943"/>
            <a:ext cx="206315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Tác động của DoS</a:t>
            </a:r>
            <a:endParaRPr lang="en-US" sz="1440" dirty="0"/>
          </a:p>
        </p:txBody>
      </p:sp>
      <p:sp>
        <p:nvSpPr>
          <p:cNvPr id="22" name="Text 20"/>
          <p:cNvSpPr/>
          <p:nvPr/>
        </p:nvSpPr>
        <p:spPr>
          <a:xfrm>
            <a:off x="2436125" y="1645982"/>
            <a:ext cx="2063154" cy="1060704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Gây ngừng dịch vụ, mất doanh thu, thiệt hại hạ tầng và uy tín tổ chức.</a:t>
            </a:r>
            <a:endParaRPr lang="en-US" sz="1440" dirty="0"/>
          </a:p>
        </p:txBody>
      </p:sp>
      <p:sp>
        <p:nvSpPr>
          <p:cNvPr id="23" name="Text 21"/>
          <p:cNvSpPr/>
          <p:nvPr/>
        </p:nvSpPr>
        <p:spPr>
          <a:xfrm>
            <a:off x="4632312" y="1127943"/>
            <a:ext cx="206315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Kỹ thuật tấn công</a:t>
            </a:r>
            <a:endParaRPr lang="en-US" sz="1440" dirty="0"/>
          </a:p>
        </p:txBody>
      </p:sp>
      <p:sp>
        <p:nvSpPr>
          <p:cNvPr id="24" name="Text 22"/>
          <p:cNvSpPr/>
          <p:nvPr/>
        </p:nvSpPr>
        <p:spPr>
          <a:xfrm>
            <a:off x="4632312" y="1645982"/>
            <a:ext cx="2063154" cy="12801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Volumetric, SYN flood, fragmentation, TCP exhaustion, application layer và DRDoS.</a:t>
            </a:r>
            <a:endParaRPr lang="en-US" sz="1440" dirty="0"/>
          </a:p>
        </p:txBody>
      </p:sp>
      <p:sp>
        <p:nvSpPr>
          <p:cNvPr id="25" name="Text 23"/>
          <p:cNvSpPr/>
          <p:nvPr/>
        </p:nvSpPr>
        <p:spPr>
          <a:xfrm>
            <a:off x="6828499" y="1127943"/>
            <a:ext cx="2063154" cy="365760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ctr"/>
          <a:lstStyle/>
          <a:p>
            <a:pPr algn="ctr"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296" b="1" dirty="0">
                <a:solidFill>
                  <a:srgbClr val="FFFFF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Botnet và C&amp;C</a:t>
            </a:r>
            <a:endParaRPr lang="en-US" sz="1440" dirty="0"/>
          </a:p>
        </p:txBody>
      </p:sp>
      <p:sp>
        <p:nvSpPr>
          <p:cNvPr id="26" name="Text 24"/>
          <p:cNvSpPr/>
          <p:nvPr/>
        </p:nvSpPr>
        <p:spPr>
          <a:xfrm>
            <a:off x="6828499" y="1645982"/>
            <a:ext cx="2063154" cy="841248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indent="0" marL="0">
              <a:lnSpc>
                <a:spcPct val="100000"/>
              </a:lnSpc>
              <a:spcBef>
                <a:spcPts val="375"/>
              </a:spcBef>
              <a:buNone/>
            </a:pPr>
            <a:r>
              <a:rPr lang="en-US" sz="1440" dirty="0">
                <a:solidFill>
                  <a:srgbClr val="00070F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Mạng máy bị nhiễm, kết nối về C&amp;C để nhận lệnh tấn công.</a:t>
            </a:r>
            <a:endParaRPr lang="en-US" sz="14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7664" y="1620774"/>
            <a:ext cx="3648673" cy="950976"/>
          </a:xfrm>
          <a:prstGeom prst="rect">
            <a:avLst/>
          </a:prstGeom>
          <a:noFill/>
          <a:ln/>
        </p:spPr>
        <p:txBody>
          <a:bodyPr wrap="square" lIns="95250" tIns="95250" rIns="95250" bIns="95250" rtlCol="0" anchor="t">
            <a:spAutoFit/>
          </a:bodyPr>
          <a:lstStyle/>
          <a:p>
            <a:pPr algn="ctr" indent="0" marL="0">
              <a:lnSpc>
                <a:spcPct val="112500"/>
              </a:lnSpc>
              <a:spcBef>
                <a:spcPts val="375"/>
              </a:spcBef>
              <a:buNone/>
            </a:pPr>
            <a:r>
              <a:rPr lang="en-US" sz="4032" spc="144" kern="0" dirty="0">
                <a:solidFill>
                  <a:srgbClr val="819063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Thanks！</a:t>
            </a:r>
            <a:endParaRPr lang="en-US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2026-06-29T03:56:32Z</dcterms:created>
  <dcterms:modified xsi:type="dcterms:W3CDTF">2026-06-29T03:56:32Z</dcterms:modified>
</cp:coreProperties>
</file>